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9931400" cy="143637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Medium"/>
      <p:regular r:id="rId17"/>
      <p:bold r:id="rId18"/>
      <p:italic r:id="rId19"/>
      <p:boldItalic r:id="rId20"/>
    </p:embeddedFont>
    <p:embeddedFont>
      <p:font typeface="Tahoma"/>
      <p:regular r:id="rId21"/>
      <p:bold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64">
          <p15:clr>
            <a:srgbClr val="A4A3A4"/>
          </p15:clr>
        </p15:guide>
        <p15:guide id="2" orient="horz" pos="1410">
          <p15:clr>
            <a:srgbClr val="A4A3A4"/>
          </p15:clr>
        </p15:guide>
        <p15:guide id="3" orient="horz" pos="2715">
          <p15:clr>
            <a:srgbClr val="A4A3A4"/>
          </p15:clr>
        </p15:guide>
        <p15:guide id="4" orient="horz" pos="2389">
          <p15:clr>
            <a:srgbClr val="A4A3A4"/>
          </p15:clr>
        </p15:guide>
        <p15:guide id="5" orient="horz" pos="2064">
          <p15:clr>
            <a:srgbClr val="A4A3A4"/>
          </p15:clr>
        </p15:guide>
        <p15:guide id="6" orient="horz" pos="1735">
          <p15:clr>
            <a:srgbClr val="A4A3A4"/>
          </p15:clr>
        </p15:guide>
        <p15:guide id="7" orient="horz" pos="3369">
          <p15:clr>
            <a:srgbClr val="A4A3A4"/>
          </p15:clr>
        </p15:guide>
        <p15:guide id="8" orient="horz" pos="3698">
          <p15:clr>
            <a:srgbClr val="A4A3A4"/>
          </p15:clr>
        </p15:guide>
        <p15:guide id="9" pos="5186">
          <p15:clr>
            <a:srgbClr val="A4A3A4"/>
          </p15:clr>
        </p15:guide>
        <p15:guide id="10" pos="241">
          <p15:clr>
            <a:srgbClr val="A4A3A4"/>
          </p15:clr>
        </p15:guide>
        <p15:guide id="11" pos="1910">
          <p15:clr>
            <a:srgbClr val="A4A3A4"/>
          </p15:clr>
        </p15:guide>
        <p15:guide id="12" pos="6005">
          <p15:clr>
            <a:srgbClr val="A4A3A4"/>
          </p15:clr>
        </p15:guide>
        <p15:guide id="13" pos="6838">
          <p15:clr>
            <a:srgbClr val="A4A3A4"/>
          </p15:clr>
        </p15:guide>
        <p15:guide id="14" pos="2751">
          <p15:clr>
            <a:srgbClr val="A4A3A4"/>
          </p15:clr>
        </p15:guide>
        <p15:guide id="15" pos="1076">
          <p15:clr>
            <a:srgbClr val="A4A3A4"/>
          </p15:clr>
        </p15:guide>
      </p15:sldGuideLst>
    </p:ext>
    <p:ext uri="{2D200454-40CA-4A62-9FC3-DE9A4176ACB9}">
      <p15:notesGuideLst>
        <p15:guide id="1" orient="horz" pos="4525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  <p:ext uri="GoogleSlidesCustomDataVersion2">
      <go:slidesCustomData xmlns:go="http://customooxmlschemas.google.com/" r:id="rId27" roundtripDataSignature="AMtx7mjo2xx8/EeqpZ8qzb6oitdM0up4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7D7E09-11C2-4177-9DDC-B4F4A670C27A}">
  <a:tblStyle styleId="{087D7E09-11C2-4177-9DDC-B4F4A670C27A}" styleName="Table_0">
    <a:wholeTbl>
      <a:tcTxStyle b="off" i="off">
        <a:font>
          <a:latin typeface="Bahnschrift Light"/>
          <a:ea typeface="Bahnschrift Light"/>
          <a:cs typeface="Bahnschrif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F1E6"/>
          </a:solidFill>
        </a:fill>
      </a:tcStyle>
    </a:wholeTbl>
    <a:band1H>
      <a:tcTxStyle/>
      <a:tcStyle>
        <a:fill>
          <a:solidFill>
            <a:srgbClr val="F7E2CA"/>
          </a:solidFill>
        </a:fill>
      </a:tcStyle>
    </a:band1H>
    <a:band2H>
      <a:tcTxStyle/>
    </a:band2H>
    <a:band1V>
      <a:tcTxStyle/>
      <a:tcStyle>
        <a:fill>
          <a:solidFill>
            <a:srgbClr val="F7E2CA"/>
          </a:solidFill>
        </a:fill>
      </a:tcStyle>
    </a:band1V>
    <a:band2V>
      <a:tcTxStyle/>
    </a:band2V>
    <a:lastCol>
      <a:tcTxStyle b="on" i="off">
        <a:font>
          <a:latin typeface="Bahnschrift Light"/>
          <a:ea typeface="Bahnschrift Light"/>
          <a:cs typeface="Bahnschrift Light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Bahnschrift Light"/>
          <a:ea typeface="Bahnschrift Light"/>
          <a:cs typeface="Bahnschrift Light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Bahnschrift Light"/>
          <a:ea typeface="Bahnschrift Light"/>
          <a:cs typeface="Bahnschrif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Bahnschrift Light"/>
          <a:ea typeface="Bahnschrift Light"/>
          <a:cs typeface="Bahnschrif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64" orient="horz"/>
        <p:guide pos="1410" orient="horz"/>
        <p:guide pos="2715" orient="horz"/>
        <p:guide pos="2389" orient="horz"/>
        <p:guide pos="2064" orient="horz"/>
        <p:guide pos="1735" orient="horz"/>
        <p:guide pos="3369" orient="horz"/>
        <p:guide pos="3698" orient="horz"/>
        <p:guide pos="5186"/>
        <p:guide pos="241"/>
        <p:guide pos="1910"/>
        <p:guide pos="6005"/>
        <p:guide pos="6838"/>
        <p:guide pos="2751"/>
        <p:guide pos="10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4525" orient="horz"/>
        <p:guide pos="3127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boldItalic.fntdata"/><Relationship Id="rId22" Type="http://schemas.openxmlformats.org/officeDocument/2006/relationships/font" Target="fonts/Tahoma-bold.fntdata"/><Relationship Id="rId21" Type="http://schemas.openxmlformats.org/officeDocument/2006/relationships/font" Target="fonts/Tahoma-regular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Medium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RobotoMedium-italic.fntdata"/><Relationship Id="rId18" Type="http://schemas.openxmlformats.org/officeDocument/2006/relationships/font" Target="fonts/Robot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302125" cy="719138"/>
          </a:xfrm>
          <a:prstGeom prst="rect">
            <a:avLst/>
          </a:prstGeom>
          <a:noFill/>
          <a:ln>
            <a:noFill/>
          </a:ln>
        </p:spPr>
        <p:txBody>
          <a:bodyPr anchorCtr="0" anchor="t" bIns="66800" lIns="133600" spcFirstLastPara="1" rIns="133600" wrap="square" tIns="6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29275" y="0"/>
            <a:ext cx="4302125" cy="719138"/>
          </a:xfrm>
          <a:prstGeom prst="rect">
            <a:avLst/>
          </a:prstGeom>
          <a:noFill/>
          <a:ln>
            <a:noFill/>
          </a:ln>
        </p:spPr>
        <p:txBody>
          <a:bodyPr anchorCtr="0" anchor="t" bIns="66800" lIns="133600" spcFirstLastPara="1" rIns="133600" wrap="square" tIns="668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77800" y="1074738"/>
            <a:ext cx="9575800" cy="5386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22388" y="6819900"/>
            <a:ext cx="7286625" cy="6469063"/>
          </a:xfrm>
          <a:prstGeom prst="rect">
            <a:avLst/>
          </a:prstGeom>
          <a:noFill/>
          <a:ln>
            <a:noFill/>
          </a:ln>
        </p:spPr>
        <p:txBody>
          <a:bodyPr anchorCtr="0" anchor="t" bIns="66800" lIns="133600" spcFirstLastPara="1" rIns="133600" wrap="square" tIns="668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3644563"/>
            <a:ext cx="4302125" cy="719137"/>
          </a:xfrm>
          <a:prstGeom prst="rect">
            <a:avLst/>
          </a:prstGeom>
          <a:noFill/>
          <a:ln>
            <a:noFill/>
          </a:ln>
        </p:spPr>
        <p:txBody>
          <a:bodyPr anchorCtr="0" anchor="b" bIns="66800" lIns="133600" spcFirstLastPara="1" rIns="133600" wrap="square" tIns="6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29275" y="13644563"/>
            <a:ext cx="4302125" cy="719137"/>
          </a:xfrm>
          <a:prstGeom prst="rect">
            <a:avLst/>
          </a:prstGeom>
          <a:noFill/>
          <a:ln>
            <a:noFill/>
          </a:ln>
        </p:spPr>
        <p:txBody>
          <a:bodyPr anchorCtr="0" anchor="b" bIns="66800" lIns="133600" spcFirstLastPara="1" rIns="133600" wrap="square" tIns="6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1322388" y="6819900"/>
            <a:ext cx="7286625" cy="6469063"/>
          </a:xfrm>
          <a:prstGeom prst="rect">
            <a:avLst/>
          </a:prstGeom>
        </p:spPr>
        <p:txBody>
          <a:bodyPr anchorCtr="0" anchor="t" bIns="66800" lIns="133600" spcFirstLastPara="1" rIns="133600" wrap="square" tIns="6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77800" y="1074738"/>
            <a:ext cx="9575800" cy="5386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1322388" y="6819900"/>
            <a:ext cx="7286625" cy="6469063"/>
          </a:xfrm>
          <a:prstGeom prst="rect">
            <a:avLst/>
          </a:prstGeom>
        </p:spPr>
        <p:txBody>
          <a:bodyPr anchorCtr="0" anchor="t" bIns="66800" lIns="133600" spcFirstLastPara="1" rIns="133600" wrap="square" tIns="6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77800" y="1074738"/>
            <a:ext cx="9575800" cy="5386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1322388" y="6819900"/>
            <a:ext cx="7286625" cy="6469063"/>
          </a:xfrm>
          <a:prstGeom prst="rect">
            <a:avLst/>
          </a:prstGeom>
        </p:spPr>
        <p:txBody>
          <a:bodyPr anchorCtr="0" anchor="t" bIns="66800" lIns="133600" spcFirstLastPara="1" rIns="133600" wrap="square" tIns="6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77800" y="1074738"/>
            <a:ext cx="9575800" cy="5386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1322388" y="6819900"/>
            <a:ext cx="7286625" cy="6469063"/>
          </a:xfrm>
          <a:prstGeom prst="rect">
            <a:avLst/>
          </a:prstGeom>
        </p:spPr>
        <p:txBody>
          <a:bodyPr anchorCtr="0" anchor="t" bIns="66800" lIns="133600" spcFirstLastPara="1" rIns="133600" wrap="square" tIns="6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77800" y="1074738"/>
            <a:ext cx="9575800" cy="5386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1322388" y="6819900"/>
            <a:ext cx="7286625" cy="6469063"/>
          </a:xfrm>
          <a:prstGeom prst="rect">
            <a:avLst/>
          </a:prstGeom>
        </p:spPr>
        <p:txBody>
          <a:bodyPr anchorCtr="0" anchor="t" bIns="66800" lIns="133600" spcFirstLastPara="1" rIns="133600" wrap="square" tIns="6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77800" y="1074738"/>
            <a:ext cx="9575800" cy="5386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1322388" y="6819900"/>
            <a:ext cx="7286625" cy="6469063"/>
          </a:xfrm>
          <a:prstGeom prst="rect">
            <a:avLst/>
          </a:prstGeom>
        </p:spPr>
        <p:txBody>
          <a:bodyPr anchorCtr="0" anchor="t" bIns="66800" lIns="133600" spcFirstLastPara="1" rIns="133600" wrap="square" tIns="6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77800" y="1074738"/>
            <a:ext cx="9575800" cy="5386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- MSG">
  <p:cSld name="1_Title - MSG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8"/>
          <p:cNvPicPr preferRelativeResize="0"/>
          <p:nvPr/>
        </p:nvPicPr>
        <p:blipFill rotWithShape="1">
          <a:blip r:embed="rId2">
            <a:alphaModFix/>
          </a:blip>
          <a:srcRect b="2747" l="0" r="0" t="0"/>
          <a:stretch/>
        </p:blipFill>
        <p:spPr>
          <a:xfrm>
            <a:off x="2363515" y="1113181"/>
            <a:ext cx="9765095" cy="542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8"/>
          <p:cNvSpPr/>
          <p:nvPr/>
        </p:nvSpPr>
        <p:spPr>
          <a:xfrm>
            <a:off x="36945" y="1154545"/>
            <a:ext cx="3306619" cy="5375564"/>
          </a:xfrm>
          <a:custGeom>
            <a:rect b="b" l="l" r="r" t="t"/>
            <a:pathLst>
              <a:path extrusionOk="0" h="5375564" w="3306619">
                <a:moveTo>
                  <a:pt x="46182" y="0"/>
                </a:moveTo>
                <a:lnTo>
                  <a:pt x="3306619" y="0"/>
                </a:lnTo>
                <a:lnTo>
                  <a:pt x="2050473" y="5375564"/>
                </a:lnTo>
                <a:lnTo>
                  <a:pt x="0" y="5375564"/>
                </a:lnTo>
                <a:lnTo>
                  <a:pt x="461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8"/>
          <p:cNvPicPr preferRelativeResize="0"/>
          <p:nvPr/>
        </p:nvPicPr>
        <p:blipFill rotWithShape="1">
          <a:blip r:embed="rId3">
            <a:alphaModFix/>
          </a:blip>
          <a:srcRect b="3838" l="0" r="0" t="0"/>
          <a:stretch/>
        </p:blipFill>
        <p:spPr>
          <a:xfrm>
            <a:off x="-1" y="-8718"/>
            <a:ext cx="12192001" cy="659476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/>
          <p:nvPr/>
        </p:nvSpPr>
        <p:spPr>
          <a:xfrm>
            <a:off x="145054" y="-8719"/>
            <a:ext cx="2107258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2" name="Google Shape;22;p8"/>
          <p:cNvCxnSpPr/>
          <p:nvPr/>
        </p:nvCxnSpPr>
        <p:spPr>
          <a:xfrm>
            <a:off x="145054" y="638706"/>
            <a:ext cx="12046946" cy="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dk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" name="Google Shape;23;p8"/>
          <p:cNvPicPr preferRelativeResize="0"/>
          <p:nvPr/>
        </p:nvPicPr>
        <p:blipFill rotWithShape="1">
          <a:blip r:embed="rId4">
            <a:alphaModFix/>
          </a:blip>
          <a:srcRect b="0" l="0" r="-88" t="0"/>
          <a:stretch/>
        </p:blipFill>
        <p:spPr>
          <a:xfrm>
            <a:off x="371032" y="114424"/>
            <a:ext cx="1703214" cy="43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1139429"/>
            <a:ext cx="8183418" cy="5447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" name="Google Shape;26;p9"/>
          <p:cNvPicPr preferRelativeResize="0"/>
          <p:nvPr/>
        </p:nvPicPr>
        <p:blipFill rotWithShape="1">
          <a:blip r:embed="rId2">
            <a:alphaModFix/>
          </a:blip>
          <a:srcRect b="3164" l="0" r="0" t="12794"/>
          <a:stretch/>
        </p:blipFill>
        <p:spPr>
          <a:xfrm>
            <a:off x="0" y="877455"/>
            <a:ext cx="12192000" cy="576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9"/>
          <p:cNvSpPr/>
          <p:nvPr/>
        </p:nvSpPr>
        <p:spPr>
          <a:xfrm>
            <a:off x="145054" y="-8719"/>
            <a:ext cx="647425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" name="Google Shape;28;p9"/>
          <p:cNvSpPr txBox="1"/>
          <p:nvPr>
            <p:ph type="title"/>
          </p:nvPr>
        </p:nvSpPr>
        <p:spPr>
          <a:xfrm>
            <a:off x="792480" y="1"/>
            <a:ext cx="11254467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6308436" y="1237673"/>
            <a:ext cx="5463956" cy="5164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9"/>
          <p:cNvPicPr preferRelativeResize="0"/>
          <p:nvPr/>
        </p:nvPicPr>
        <p:blipFill rotWithShape="1">
          <a:blip r:embed="rId3">
            <a:alphaModFix/>
          </a:blip>
          <a:srcRect b="0" l="0" r="74091" t="0"/>
          <a:stretch/>
        </p:blipFill>
        <p:spPr>
          <a:xfrm>
            <a:off x="207400" y="83805"/>
            <a:ext cx="485747" cy="482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778" y="3061592"/>
            <a:ext cx="1245440" cy="124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/>
          <p:nvPr/>
        </p:nvSpPr>
        <p:spPr>
          <a:xfrm>
            <a:off x="147782" y="-8719"/>
            <a:ext cx="11896436" cy="647425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10"/>
          <p:cNvSpPr/>
          <p:nvPr/>
        </p:nvSpPr>
        <p:spPr>
          <a:xfrm>
            <a:off x="145054" y="-8719"/>
            <a:ext cx="647425" cy="647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792480" y="1"/>
            <a:ext cx="11399520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145053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10"/>
          <p:cNvPicPr preferRelativeResize="0"/>
          <p:nvPr/>
        </p:nvPicPr>
        <p:blipFill rotWithShape="1">
          <a:blip r:embed="rId2">
            <a:alphaModFix/>
          </a:blip>
          <a:srcRect b="0" l="0" r="74091" t="0"/>
          <a:stretch/>
        </p:blipFill>
        <p:spPr>
          <a:xfrm>
            <a:off x="207400" y="83805"/>
            <a:ext cx="485747" cy="48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Metop/EPS">
  <p:cSld name="Title - Metop/EPS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18124" y="1210440"/>
            <a:ext cx="9465846" cy="532453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/>
          <p:nvPr/>
        </p:nvSpPr>
        <p:spPr>
          <a:xfrm>
            <a:off x="36945" y="1154545"/>
            <a:ext cx="3306619" cy="5375564"/>
          </a:xfrm>
          <a:custGeom>
            <a:rect b="b" l="l" r="r" t="t"/>
            <a:pathLst>
              <a:path extrusionOk="0" h="5375564" w="3306619">
                <a:moveTo>
                  <a:pt x="46182" y="0"/>
                </a:moveTo>
                <a:lnTo>
                  <a:pt x="3306619" y="0"/>
                </a:lnTo>
                <a:lnTo>
                  <a:pt x="2050473" y="5375564"/>
                </a:lnTo>
                <a:lnTo>
                  <a:pt x="0" y="5375564"/>
                </a:lnTo>
                <a:lnTo>
                  <a:pt x="461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1" name="Google Shape;41;p11"/>
          <p:cNvPicPr preferRelativeResize="0"/>
          <p:nvPr/>
        </p:nvPicPr>
        <p:blipFill rotWithShape="1">
          <a:blip r:embed="rId3">
            <a:alphaModFix/>
          </a:blip>
          <a:srcRect b="3838" l="0" r="0" t="0"/>
          <a:stretch/>
        </p:blipFill>
        <p:spPr>
          <a:xfrm>
            <a:off x="-1" y="-1"/>
            <a:ext cx="12192001" cy="659476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1"/>
          <p:cNvSpPr/>
          <p:nvPr/>
        </p:nvSpPr>
        <p:spPr>
          <a:xfrm>
            <a:off x="145054" y="-8719"/>
            <a:ext cx="2107258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3" name="Google Shape;43;p11"/>
          <p:cNvCxnSpPr/>
          <p:nvPr/>
        </p:nvCxnSpPr>
        <p:spPr>
          <a:xfrm>
            <a:off x="145054" y="638706"/>
            <a:ext cx="12046946" cy="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dk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11"/>
          <p:cNvPicPr preferRelativeResize="0"/>
          <p:nvPr/>
        </p:nvPicPr>
        <p:blipFill rotWithShape="1">
          <a:blip r:embed="rId4">
            <a:alphaModFix/>
          </a:blip>
          <a:srcRect b="0" l="0" r="-88" t="0"/>
          <a:stretch/>
        </p:blipFill>
        <p:spPr>
          <a:xfrm>
            <a:off x="371032" y="114424"/>
            <a:ext cx="1703214" cy="43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EPS-SG">
  <p:cSld name="Title - EPS-SG">
    <p:bg>
      <p:bgPr>
        <a:solidFill>
          <a:schemeClr val="dk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2"/>
          <p:cNvPicPr preferRelativeResize="0"/>
          <p:nvPr/>
        </p:nvPicPr>
        <p:blipFill rotWithShape="1">
          <a:blip r:embed="rId2">
            <a:alphaModFix/>
          </a:blip>
          <a:srcRect b="8674" l="0" r="0" t="0"/>
          <a:stretch/>
        </p:blipFill>
        <p:spPr>
          <a:xfrm>
            <a:off x="125175" y="1249142"/>
            <a:ext cx="10281095" cy="53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2"/>
          <p:cNvSpPr/>
          <p:nvPr/>
        </p:nvSpPr>
        <p:spPr>
          <a:xfrm flipH="1">
            <a:off x="8871770" y="1154545"/>
            <a:ext cx="3306619" cy="5375564"/>
          </a:xfrm>
          <a:custGeom>
            <a:rect b="b" l="l" r="r" t="t"/>
            <a:pathLst>
              <a:path extrusionOk="0" h="5375564" w="3306619">
                <a:moveTo>
                  <a:pt x="46182" y="0"/>
                </a:moveTo>
                <a:lnTo>
                  <a:pt x="3306619" y="0"/>
                </a:lnTo>
                <a:lnTo>
                  <a:pt x="2050473" y="5375564"/>
                </a:lnTo>
                <a:lnTo>
                  <a:pt x="0" y="5375564"/>
                </a:lnTo>
                <a:lnTo>
                  <a:pt x="461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8" name="Google Shape;48;p12"/>
          <p:cNvPicPr preferRelativeResize="0"/>
          <p:nvPr/>
        </p:nvPicPr>
        <p:blipFill rotWithShape="1">
          <a:blip r:embed="rId3">
            <a:alphaModFix/>
          </a:blip>
          <a:srcRect b="3838" l="0" r="0" t="0"/>
          <a:stretch/>
        </p:blipFill>
        <p:spPr>
          <a:xfrm flipH="1">
            <a:off x="0" y="0"/>
            <a:ext cx="12192000" cy="659476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/>
          <p:nvPr/>
        </p:nvSpPr>
        <p:spPr>
          <a:xfrm>
            <a:off x="145054" y="-8719"/>
            <a:ext cx="2107258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0" name="Google Shape;50;p12"/>
          <p:cNvCxnSpPr/>
          <p:nvPr/>
        </p:nvCxnSpPr>
        <p:spPr>
          <a:xfrm>
            <a:off x="145054" y="638706"/>
            <a:ext cx="12046946" cy="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dk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1" name="Google Shape;51;p12"/>
          <p:cNvPicPr preferRelativeResize="0"/>
          <p:nvPr/>
        </p:nvPicPr>
        <p:blipFill rotWithShape="1">
          <a:blip r:embed="rId4">
            <a:alphaModFix/>
          </a:blip>
          <a:srcRect b="0" l="0" r="-88" t="0"/>
          <a:stretch/>
        </p:blipFill>
        <p:spPr>
          <a:xfrm>
            <a:off x="371032" y="114424"/>
            <a:ext cx="1703214" cy="43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MSG">
  <p:cSld name="Title - MSG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2106" y="1122694"/>
            <a:ext cx="9619897" cy="545127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36945" y="1154545"/>
            <a:ext cx="3306619" cy="5375564"/>
          </a:xfrm>
          <a:custGeom>
            <a:rect b="b" l="l" r="r" t="t"/>
            <a:pathLst>
              <a:path extrusionOk="0" h="5375564" w="3306619">
                <a:moveTo>
                  <a:pt x="46182" y="0"/>
                </a:moveTo>
                <a:lnTo>
                  <a:pt x="3306619" y="0"/>
                </a:lnTo>
                <a:lnTo>
                  <a:pt x="2050473" y="5375564"/>
                </a:lnTo>
                <a:lnTo>
                  <a:pt x="0" y="5375564"/>
                </a:lnTo>
                <a:lnTo>
                  <a:pt x="461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838" l="0" r="0" t="0"/>
          <a:stretch/>
        </p:blipFill>
        <p:spPr>
          <a:xfrm>
            <a:off x="-1" y="-8718"/>
            <a:ext cx="12192001" cy="659476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145054" y="-8719"/>
            <a:ext cx="2107258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145054" y="638706"/>
            <a:ext cx="12046946" cy="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dk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-88" t="0"/>
          <a:stretch/>
        </p:blipFill>
        <p:spPr>
          <a:xfrm>
            <a:off x="371032" y="114424"/>
            <a:ext cx="1703214" cy="43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MTG">
  <p:cSld name="Title - MTG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5054" y="1145464"/>
            <a:ext cx="9616414" cy="54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 flipH="1">
            <a:off x="8871770" y="1154545"/>
            <a:ext cx="3306619" cy="5375564"/>
          </a:xfrm>
          <a:custGeom>
            <a:rect b="b" l="l" r="r" t="t"/>
            <a:pathLst>
              <a:path extrusionOk="0" h="5375564" w="3306619">
                <a:moveTo>
                  <a:pt x="46182" y="0"/>
                </a:moveTo>
                <a:lnTo>
                  <a:pt x="3306619" y="0"/>
                </a:lnTo>
                <a:lnTo>
                  <a:pt x="2050473" y="5375564"/>
                </a:lnTo>
                <a:lnTo>
                  <a:pt x="0" y="5375564"/>
                </a:lnTo>
                <a:lnTo>
                  <a:pt x="461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3838" l="0" r="0" t="0"/>
          <a:stretch/>
        </p:blipFill>
        <p:spPr>
          <a:xfrm flipH="1">
            <a:off x="0" y="0"/>
            <a:ext cx="12192000" cy="659476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145054" y="-8719"/>
            <a:ext cx="2107258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145054" y="638706"/>
            <a:ext cx="12046946" cy="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dk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-88" t="0"/>
          <a:stretch/>
        </p:blipFill>
        <p:spPr>
          <a:xfrm>
            <a:off x="371032" y="114424"/>
            <a:ext cx="1703214" cy="43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- MTG">
  <p:cSld name="1_Title - MTG"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832" y="1238226"/>
            <a:ext cx="9480125" cy="5334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 flipH="1">
            <a:off x="8871770" y="1154545"/>
            <a:ext cx="3306619" cy="5375564"/>
          </a:xfrm>
          <a:custGeom>
            <a:rect b="b" l="l" r="r" t="t"/>
            <a:pathLst>
              <a:path extrusionOk="0" h="5375564" w="3306619">
                <a:moveTo>
                  <a:pt x="46182" y="0"/>
                </a:moveTo>
                <a:lnTo>
                  <a:pt x="3306619" y="0"/>
                </a:lnTo>
                <a:lnTo>
                  <a:pt x="2050473" y="5375564"/>
                </a:lnTo>
                <a:lnTo>
                  <a:pt x="0" y="5375564"/>
                </a:lnTo>
                <a:lnTo>
                  <a:pt x="461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3838" l="0" r="0" t="0"/>
          <a:stretch/>
        </p:blipFill>
        <p:spPr>
          <a:xfrm flipH="1">
            <a:off x="0" y="0"/>
            <a:ext cx="12192000" cy="659476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145054" y="-8719"/>
            <a:ext cx="2107258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145054" y="638706"/>
            <a:ext cx="12046946" cy="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dk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0" l="0" r="-88" t="0"/>
          <a:stretch/>
        </p:blipFill>
        <p:spPr>
          <a:xfrm>
            <a:off x="371032" y="114424"/>
            <a:ext cx="1703214" cy="43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145053" y="-8719"/>
            <a:ext cx="11901894" cy="647425"/>
          </a:xfrm>
          <a:prstGeom prst="rect">
            <a:avLst/>
          </a:prstGeom>
          <a:solidFill>
            <a:srgbClr val="D6D2C4">
              <a:alpha val="40000"/>
            </a:srgbClr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45054" y="-8719"/>
            <a:ext cx="647425" cy="647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792480" y="1"/>
            <a:ext cx="11254467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145053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2">
            <a:alphaModFix/>
          </a:blip>
          <a:srcRect b="0" l="0" r="74091" t="0"/>
          <a:stretch/>
        </p:blipFill>
        <p:spPr>
          <a:xfrm>
            <a:off x="207400" y="83805"/>
            <a:ext cx="485747" cy="48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145053" y="-8719"/>
            <a:ext cx="11901894" cy="647425"/>
          </a:xfrm>
          <a:prstGeom prst="rect">
            <a:avLst/>
          </a:prstGeom>
          <a:solidFill>
            <a:srgbClr val="D6D2C4">
              <a:alpha val="40000"/>
            </a:srgbClr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 b="35710" l="6413" r="31087" t="28964"/>
          <a:stretch/>
        </p:blipFill>
        <p:spPr>
          <a:xfrm>
            <a:off x="-42530" y="-42530"/>
            <a:ext cx="12227442" cy="691116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type="title"/>
          </p:nvPr>
        </p:nvSpPr>
        <p:spPr>
          <a:xfrm>
            <a:off x="792480" y="1"/>
            <a:ext cx="11399520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145053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/>
          <p:nvPr/>
        </p:nvSpPr>
        <p:spPr>
          <a:xfrm>
            <a:off x="145054" y="-8719"/>
            <a:ext cx="647425" cy="647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74091" t="0"/>
          <a:stretch/>
        </p:blipFill>
        <p:spPr>
          <a:xfrm>
            <a:off x="207400" y="83805"/>
            <a:ext cx="485747" cy="48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314311" y="-1679944"/>
            <a:ext cx="11288822" cy="11288822"/>
          </a:xfrm>
          <a:prstGeom prst="rect">
            <a:avLst/>
          </a:prstGeom>
          <a:blipFill rotWithShape="1">
            <a:blip r:embed="rId2">
              <a:alphaModFix amt="3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145053" y="-8719"/>
            <a:ext cx="11901894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792480" y="1"/>
            <a:ext cx="11399520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45053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5054" y="-8719"/>
            <a:ext cx="647425" cy="647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74091" t="0"/>
          <a:stretch/>
        </p:blipFill>
        <p:spPr>
          <a:xfrm>
            <a:off x="207400" y="83805"/>
            <a:ext cx="485747" cy="48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Q&amp;A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0" y="1139429"/>
            <a:ext cx="8183418" cy="5447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2">
            <a:alphaModFix/>
          </a:blip>
          <a:srcRect b="3434" l="0" r="0" t="12525"/>
          <a:stretch/>
        </p:blipFill>
        <p:spPr>
          <a:xfrm>
            <a:off x="0" y="858982"/>
            <a:ext cx="12192000" cy="57634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145054" y="-8719"/>
            <a:ext cx="647425" cy="6474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ahoma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6308436" y="1237673"/>
            <a:ext cx="5463956" cy="5164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74091" t="0"/>
          <a:stretch/>
        </p:blipFill>
        <p:spPr>
          <a:xfrm>
            <a:off x="207400" y="83805"/>
            <a:ext cx="485747" cy="482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147" y="2427580"/>
            <a:ext cx="2640047" cy="263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792479" y="4"/>
            <a:ext cx="11399521" cy="600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4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145054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9968" lvl="0" marL="457200" marR="0" rtl="0" algn="l">
              <a:spcBef>
                <a:spcPts val="886"/>
              </a:spcBef>
              <a:spcAft>
                <a:spcPts val="0"/>
              </a:spcAft>
              <a:buClr>
                <a:schemeClr val="dk2"/>
              </a:buClr>
              <a:buSzPts val="4431"/>
              <a:buFont typeface="Arial"/>
              <a:buChar char="•"/>
              <a:defRPr b="0" i="0" sz="443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78726" lvl="1" marL="914400" marR="0" rtl="0" algn="l">
              <a:spcBef>
                <a:spcPts val="788"/>
              </a:spcBef>
              <a:spcAft>
                <a:spcPts val="0"/>
              </a:spcAft>
              <a:buClr>
                <a:schemeClr val="dk2"/>
              </a:buClr>
              <a:buSzPts val="3939"/>
              <a:buFont typeface="Arial"/>
              <a:buChar char="•"/>
              <a:defRPr b="0" i="0" sz="3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47420" lvl="2" marL="1371600" marR="0" rtl="0" algn="l">
              <a:spcBef>
                <a:spcPts val="689"/>
              </a:spcBef>
              <a:spcAft>
                <a:spcPts val="0"/>
              </a:spcAft>
              <a:buClr>
                <a:schemeClr val="dk2"/>
              </a:buClr>
              <a:buSzPts val="3446"/>
              <a:buFont typeface="Arial"/>
              <a:buChar char="•"/>
              <a:defRPr b="0" i="0" sz="344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6179" lvl="3" marL="1828800" marR="0" rtl="0" algn="l">
              <a:spcBef>
                <a:spcPts val="591"/>
              </a:spcBef>
              <a:spcAft>
                <a:spcPts val="0"/>
              </a:spcAft>
              <a:buClr>
                <a:schemeClr val="dk2"/>
              </a:buClr>
              <a:buSzPts val="2954"/>
              <a:buFont typeface="Arial"/>
              <a:buChar char="•"/>
              <a:defRPr b="0" i="0" sz="295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4936" lvl="4" marL="2286000" marR="0" rtl="0" algn="l">
              <a:spcBef>
                <a:spcPts val="492"/>
              </a:spcBef>
              <a:spcAft>
                <a:spcPts val="0"/>
              </a:spcAft>
              <a:buClr>
                <a:schemeClr val="dk2"/>
              </a:buClr>
              <a:buSzPts val="2462"/>
              <a:buFont typeface="Arial"/>
              <a:buChar char="•"/>
              <a:defRPr b="0" i="0" sz="246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591"/>
              </a:spcBef>
              <a:spcAft>
                <a:spcPts val="0"/>
              </a:spcAft>
              <a:buSzPts val="1400"/>
              <a:buNone/>
              <a:defRPr b="0" i="0" sz="295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591"/>
              </a:spcBef>
              <a:spcAft>
                <a:spcPts val="0"/>
              </a:spcAft>
              <a:buSzPts val="1400"/>
              <a:buNone/>
              <a:defRPr b="0" i="0" sz="295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91"/>
              </a:spcBef>
              <a:spcAft>
                <a:spcPts val="0"/>
              </a:spcAft>
              <a:buSzPts val="1400"/>
              <a:buNone/>
              <a:defRPr b="0" i="0" sz="295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591"/>
              </a:spcBef>
              <a:spcAft>
                <a:spcPts val="0"/>
              </a:spcAft>
              <a:buSzPts val="1400"/>
              <a:buNone/>
              <a:defRPr b="0" i="0" sz="295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7"/>
          <p:cNvCxnSpPr/>
          <p:nvPr/>
        </p:nvCxnSpPr>
        <p:spPr>
          <a:xfrm>
            <a:off x="145054" y="638706"/>
            <a:ext cx="12046946" cy="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chemeClr val="dk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7"/>
          <p:cNvSpPr txBox="1"/>
          <p:nvPr/>
        </p:nvSpPr>
        <p:spPr>
          <a:xfrm>
            <a:off x="10901866" y="641568"/>
            <a:ext cx="1226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www.eumetsat.int</a:t>
            </a:r>
            <a:endParaRPr/>
          </a:p>
        </p:txBody>
      </p:sp>
      <p:sp>
        <p:nvSpPr>
          <p:cNvPr id="14" name="Google Shape;14;p7" title="[DM_E_CONFID]"/>
          <p:cNvSpPr/>
          <p:nvPr/>
        </p:nvSpPr>
        <p:spPr>
          <a:xfrm>
            <a:off x="4576120" y="6649210"/>
            <a:ext cx="311364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5;p7" title="[DM_E_DOC_NO], v[DM_E_VER_NO], [DM_E_ISS_DATE]"/>
          <p:cNvSpPr/>
          <p:nvPr/>
        </p:nvSpPr>
        <p:spPr>
          <a:xfrm>
            <a:off x="161047" y="6648056"/>
            <a:ext cx="4628617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EUM/IM/TEM/21/1250548, v1B, 28 March 2022</a:t>
            </a:r>
            <a:endParaRPr b="0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"/>
          <p:cNvSpPr/>
          <p:nvPr/>
        </p:nvSpPr>
        <p:spPr>
          <a:xfrm>
            <a:off x="11519350" y="6593586"/>
            <a:ext cx="609135" cy="262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5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irowg.org/wpcms/wp-content/uploads/2015/07/IROWG4-BUFR_action_group_20150603_summary_final.doc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iles.igs.org/pub/data/format/rinex305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 title="[DM_DOCNAME]"/>
          <p:cNvSpPr txBox="1"/>
          <p:nvPr/>
        </p:nvSpPr>
        <p:spPr>
          <a:xfrm>
            <a:off x="0" y="1884153"/>
            <a:ext cx="5310900" cy="21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88000" spcFirstLastPara="1" rIns="288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BUFR Meta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C. Marquardt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EUMETSAT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20 March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792480" y="1"/>
            <a:ext cx="11254467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/>
          <a:p>
            <a:pPr indent="0" lvl="0" marL="22154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6308436" y="2117036"/>
            <a:ext cx="5463956" cy="3518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8484E"/>
              </a:buClr>
              <a:buSzPts val="2800"/>
              <a:buNone/>
            </a:pPr>
            <a:r>
              <a:rPr lang="en-US" sz="2800">
                <a:solidFill>
                  <a:srgbClr val="38484E"/>
                </a:solidFill>
                <a:latin typeface="Arial"/>
                <a:ea typeface="Arial"/>
                <a:cs typeface="Arial"/>
                <a:sym typeface="Arial"/>
              </a:rPr>
              <a:t>Time and geolocation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38484E"/>
              </a:buClr>
              <a:buSzPts val="2000"/>
              <a:buNone/>
            </a:pPr>
            <a:r>
              <a:rPr lang="en-US" sz="2000">
                <a:solidFill>
                  <a:srgbClr val="38484E"/>
                </a:solidFill>
                <a:latin typeface="Arial"/>
                <a:ea typeface="Arial"/>
                <a:cs typeface="Arial"/>
                <a:sym typeface="Arial"/>
              </a:rPr>
              <a:t>Already addressed in the new BUFR proposal.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>
              <a:solidFill>
                <a:srgbClr val="38484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38484E"/>
              </a:buClr>
              <a:buSzPts val="2800"/>
              <a:buNone/>
            </a:pPr>
            <a:r>
              <a:rPr lang="en-US" sz="2800">
                <a:solidFill>
                  <a:srgbClr val="38484E"/>
                </a:solidFill>
                <a:latin typeface="Arial"/>
                <a:ea typeface="Arial"/>
                <a:cs typeface="Arial"/>
                <a:sym typeface="Arial"/>
              </a:rPr>
              <a:t>Product Confidence Flags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38484E"/>
              </a:buClr>
              <a:buSzPts val="2000"/>
              <a:buNone/>
            </a:pPr>
            <a:r>
              <a:rPr lang="en-US" sz="2000">
                <a:solidFill>
                  <a:srgbClr val="38484E"/>
                </a:solidFill>
                <a:latin typeface="Arial"/>
                <a:ea typeface="Arial"/>
                <a:cs typeface="Arial"/>
                <a:sym typeface="Arial"/>
              </a:rPr>
              <a:t>Some are dubious IMHO.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>
              <a:solidFill>
                <a:srgbClr val="38484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38484E"/>
              </a:buClr>
              <a:buSzPts val="2800"/>
              <a:buNone/>
            </a:pPr>
            <a:r>
              <a:rPr lang="en-US" sz="2800">
                <a:solidFill>
                  <a:srgbClr val="38484E"/>
                </a:solidFill>
                <a:latin typeface="Arial"/>
                <a:ea typeface="Arial"/>
                <a:cs typeface="Arial"/>
                <a:sym typeface="Arial"/>
              </a:rPr>
              <a:t>Levels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38484E"/>
              </a:buClr>
              <a:buSzPts val="2000"/>
              <a:buNone/>
            </a:pPr>
            <a:r>
              <a:rPr lang="en-US" sz="2000">
                <a:solidFill>
                  <a:srgbClr val="38484E"/>
                </a:solidFill>
                <a:latin typeface="Arial"/>
                <a:ea typeface="Arial"/>
                <a:cs typeface="Arial"/>
                <a:sym typeface="Arial"/>
              </a:rPr>
              <a:t>Proposing a recommendation.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792480" y="1"/>
            <a:ext cx="11399520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/>
          <a:p>
            <a:pPr indent="0" lvl="0" marL="22154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and geolocation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45053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28254" lvl="0" marL="328254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Same as already proposed in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Harald’s IROWG-4 Summary paper</a:t>
            </a:r>
            <a:r>
              <a:rPr lang="en-US"/>
              <a:t> from 2015:</a:t>
            </a:r>
            <a:endParaRPr/>
          </a:p>
          <a:p>
            <a:pPr indent="-351700" lvl="1" marL="914422" rtl="0" algn="l">
              <a:lnSpc>
                <a:spcPct val="120000"/>
              </a:lnSpc>
              <a:spcBef>
                <a:spcPts val="434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Occultation reference time shall be “nominal reporting time” as used for georeferencing the occultation, ideally for SLTA = 0</a:t>
            </a:r>
            <a:endParaRPr/>
          </a:p>
          <a:p>
            <a:pPr indent="-281360" lvl="2" marL="1406804" rtl="0" algn="l">
              <a:lnSpc>
                <a:spcPct val="120000"/>
              </a:lnSpc>
              <a:spcBef>
                <a:spcPts val="37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Old BUFR template: Time significance (0 08 021): 25, TimeIncrement = 0</a:t>
            </a:r>
            <a:endParaRPr/>
          </a:p>
          <a:p>
            <a:pPr indent="-351700" lvl="1" marL="914422" rtl="0" algn="l">
              <a:lnSpc>
                <a:spcPct val="120000"/>
              </a:lnSpc>
              <a:spcBef>
                <a:spcPts val="434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Provide </a:t>
            </a:r>
            <a:r>
              <a:rPr b="1" lang="en-US"/>
              <a:t>antenna</a:t>
            </a:r>
            <a:r>
              <a:rPr lang="en-US"/>
              <a:t> positions</a:t>
            </a:r>
            <a:endParaRPr/>
          </a:p>
          <a:p>
            <a:pPr indent="-351700" lvl="1" marL="914422" rtl="0" algn="l">
              <a:lnSpc>
                <a:spcPct val="120000"/>
              </a:lnSpc>
              <a:spcBef>
                <a:spcPts val="434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Satellite and occultation positions in Earth Fixed coordinates</a:t>
            </a:r>
            <a:endParaRPr/>
          </a:p>
          <a:p>
            <a:pPr indent="-351700" lvl="1" marL="914422" rtl="0" algn="l">
              <a:lnSpc>
                <a:spcPct val="120000"/>
              </a:lnSpc>
              <a:spcBef>
                <a:spcPts val="434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Satellite velocities (3 04 031) as absolute velocities (i.e. as quantity in an </a:t>
            </a:r>
            <a:r>
              <a:rPr b="1" lang="en-US">
                <a:solidFill>
                  <a:srgbClr val="FF0000"/>
                </a:solidFill>
              </a:rPr>
              <a:t>inertial</a:t>
            </a:r>
            <a:r>
              <a:rPr lang="en-US"/>
              <a:t> system). Components to be given in Earth Fixed coordinates</a:t>
            </a:r>
            <a:endParaRPr/>
          </a:p>
          <a:p>
            <a:pPr indent="-351700" lvl="1" marL="914422" rtl="0" algn="l">
              <a:lnSpc>
                <a:spcPct val="120000"/>
              </a:lnSpc>
              <a:spcBef>
                <a:spcPts val="434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Azimuth (0 05 021) clockwise against North, 0° - 360°</a:t>
            </a:r>
            <a:endParaRPr/>
          </a:p>
          <a:p>
            <a:pPr indent="-213905" lvl="1" marL="914422" rtl="0" algn="l">
              <a:lnSpc>
                <a:spcPct val="120000"/>
              </a:lnSpc>
              <a:spcBef>
                <a:spcPts val="434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/>
          </a:p>
          <a:p>
            <a:pPr indent="-328254" lvl="0" marL="328254" rtl="0" algn="l">
              <a:lnSpc>
                <a:spcPct val="120000"/>
              </a:lnSpc>
              <a:spcBef>
                <a:spcPts val="496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Taken care of in new BUFR template proposal already as a reference time is explicitly requested. Start and end of occultations are provided as time increments.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792480" y="1"/>
            <a:ext cx="11399520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/>
          <a:p>
            <a:pPr indent="0" lvl="0" marL="22154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 Confidence Flags (PCDs – Second Table 9)</a:t>
            </a:r>
            <a:endParaRPr/>
          </a:p>
        </p:txBody>
      </p:sp>
      <p:graphicFrame>
        <p:nvGraphicFramePr>
          <p:cNvPr id="122" name="Google Shape;122;p4"/>
          <p:cNvGraphicFramePr/>
          <p:nvPr/>
        </p:nvGraphicFramePr>
        <p:xfrm>
          <a:off x="554934" y="9243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{087D7E09-11C2-4177-9DDC-B4F4A670C27A}</a:tableStyleId>
              </a:tblPr>
              <a:tblGrid>
                <a:gridCol w="1807850"/>
                <a:gridCol w="685700"/>
                <a:gridCol w="3511350"/>
                <a:gridCol w="5077250"/>
              </a:tblGrid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Descriptor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Bit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Meaning when clear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Meaning when set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0 33 039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Nominal quality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Non-nominal quality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NRT product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Offline Product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Descending occultation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Ascending occultation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Excess phase processing nominal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…non-nominal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Bending angle processing nominal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…non-nominal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Refractivity processing nominal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…non-nominal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Meteorological processing nominal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…non-nominal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Closed-loop data only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Open-loop data included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No surface reflections detected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Surface detections detected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L2P GNSS signals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L2C GNSS signals used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11-13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Reserved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Background profile nominal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…non-nominal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Retrieved profile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Background profile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All 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As above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Missing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792480" y="1"/>
            <a:ext cx="11399520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/>
          <a:p>
            <a:pPr indent="0" lvl="0" marL="22154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Dubious components of the current PCD</a:t>
            </a:r>
            <a:endParaRPr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145053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13014" lvl="0" marL="328254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Open- vs closed-loop</a:t>
            </a:r>
            <a:endParaRPr/>
          </a:p>
          <a:p>
            <a:pPr indent="-338365" lvl="1" marL="914422" rtl="0" algn="l">
              <a:lnSpc>
                <a:spcPct val="130000"/>
              </a:lnSpc>
              <a:spcBef>
                <a:spcPts val="39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Today, all active receivers offer open-loop data in the troposphere; some do not even have closed data anymore (TrIG, Spire, PlanetIQ)</a:t>
            </a:r>
            <a:endParaRPr/>
          </a:p>
          <a:p>
            <a:pPr indent="-338365" lvl="1" marL="914422" rtl="0" algn="l">
              <a:lnSpc>
                <a:spcPct val="130000"/>
              </a:lnSpc>
              <a:spcBef>
                <a:spcPts val="39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I would drop this, or add a ternary option – closed-loop only, closed-&amp; open-loop, open-loop only – plus another descriptor identifying the height of the transition between open- and closed-loop.</a:t>
            </a:r>
            <a:endParaRPr/>
          </a:p>
          <a:p>
            <a:pPr indent="-313014" lvl="0" marL="328254" rtl="0" algn="l">
              <a:lnSpc>
                <a:spcPct val="130000"/>
              </a:lnSpc>
              <a:spcBef>
                <a:spcPts val="448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Surface reflections</a:t>
            </a:r>
            <a:endParaRPr/>
          </a:p>
          <a:p>
            <a:pPr indent="-338365" lvl="1" marL="914422" rtl="0" algn="l">
              <a:lnSpc>
                <a:spcPct val="130000"/>
              </a:lnSpc>
              <a:spcBef>
                <a:spcPts val="39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We once thought the presence of surface reflections might degrade data quality; the opposite seems to be true.</a:t>
            </a:r>
            <a:endParaRPr/>
          </a:p>
          <a:p>
            <a:pPr indent="-338365" lvl="1" marL="914422" rtl="0" algn="l">
              <a:lnSpc>
                <a:spcPct val="130000"/>
              </a:lnSpc>
              <a:spcBef>
                <a:spcPts val="39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I don’t know of any processing centre providing a surface reflection flag.</a:t>
            </a:r>
            <a:endParaRPr/>
          </a:p>
          <a:p>
            <a:pPr indent="-338365" lvl="1" marL="914422" rtl="0" algn="l">
              <a:lnSpc>
                <a:spcPct val="130000"/>
              </a:lnSpc>
              <a:spcBef>
                <a:spcPts val="39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I would drop this.</a:t>
            </a:r>
            <a:endParaRPr/>
          </a:p>
          <a:p>
            <a:pPr indent="-313014" lvl="0" marL="328254" rtl="0" algn="l">
              <a:lnSpc>
                <a:spcPct val="130000"/>
              </a:lnSpc>
              <a:spcBef>
                <a:spcPts val="448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L2/P vs L2C</a:t>
            </a:r>
            <a:endParaRPr/>
          </a:p>
          <a:p>
            <a:pPr indent="-338365" lvl="1" marL="914422" rtl="0" algn="l">
              <a:lnSpc>
                <a:spcPct val="130000"/>
              </a:lnSpc>
              <a:spcBef>
                <a:spcPts val="39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Today’s multi-GNSS receivers provide measurements from a mixture of signal types.</a:t>
            </a:r>
            <a:endParaRPr/>
          </a:p>
          <a:p>
            <a:pPr indent="-338365" lvl="1" marL="914422" rtl="0" algn="l">
              <a:lnSpc>
                <a:spcPct val="130000"/>
              </a:lnSpc>
              <a:spcBef>
                <a:spcPts val="392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/>
              <a:t>I would prefer to record the actual signal types for each frequency, e.g. as an IGS Rinex observation code (section 5.2.17 in the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RINEX specification</a:t>
            </a:r>
            <a:r>
              <a:rPr lang="en-US"/>
              <a:t>).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792480" y="1"/>
            <a:ext cx="11399520" cy="6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rmAutofit/>
          </a:bodyPr>
          <a:lstStyle/>
          <a:p>
            <a:pPr indent="0" lvl="0" marL="22154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Levels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145053" y="1139429"/>
            <a:ext cx="11627339" cy="526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8254" lvl="0" marL="32825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lang="en-US"/>
              <a:t>Harald’s discussion summary from 2014 recommends a set of fixed levels.</a:t>
            </a:r>
            <a:endParaRPr/>
          </a:p>
          <a:p>
            <a:pPr indent="-351700" lvl="1" marL="914422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lang="en-US"/>
              <a:t>I would adopt this as a recommendation (but not as mandatory), further recommending </a:t>
            </a:r>
            <a:endParaRPr/>
          </a:p>
          <a:p>
            <a:pPr indent="-351700" lvl="1" marL="914422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lang="en-US"/>
              <a:t>That level </a:t>
            </a:r>
            <a:r>
              <a:rPr lang="en-US">
                <a:solidFill>
                  <a:srgbClr val="FF0000"/>
                </a:solidFill>
              </a:rPr>
              <a:t>values</a:t>
            </a:r>
            <a:r>
              <a:rPr lang="en-US"/>
              <a:t> are fixed, not only their number;</a:t>
            </a:r>
            <a:endParaRPr/>
          </a:p>
          <a:p>
            <a:pPr indent="-351700" lvl="1" marL="914422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lang="en-US"/>
              <a:t>How refractivity levels relate to impact parameters.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Programmes Template">
  <a:themeElements>
    <a:clrScheme name="EUMETSAT 2021 Colours">
      <a:dk1>
        <a:srgbClr val="FFFFFF"/>
      </a:dk1>
      <a:lt1>
        <a:srgbClr val="00205B"/>
      </a:lt1>
      <a:dk2>
        <a:srgbClr val="38484E"/>
      </a:dk2>
      <a:lt2>
        <a:srgbClr val="5B7F95"/>
      </a:lt2>
      <a:accent1>
        <a:srgbClr val="00B5E2"/>
      </a:accent1>
      <a:accent2>
        <a:srgbClr val="EAAA00"/>
      </a:accent2>
      <a:accent3>
        <a:srgbClr val="00B2A9"/>
      </a:accent3>
      <a:accent4>
        <a:srgbClr val="FE5000"/>
      </a:accent4>
      <a:accent5>
        <a:srgbClr val="7C7FAB"/>
      </a:accent5>
      <a:accent6>
        <a:srgbClr val="D6D2C4"/>
      </a:accent6>
      <a:hlink>
        <a:srgbClr val="C5B9AC"/>
      </a:hlink>
      <a:folHlink>
        <a:srgbClr val="968C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2024-03-20T11:10:46Z</dcterms:created>
  <dc:creator>Christian Marquardt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M_DOCNUM">
    <vt:lpwstr>1250548</vt:lpwstr>
  </property>
  <property fmtid="{D5CDD505-2E9C-101B-9397-08002B2CF9AE}" pid="3" name="DM_DOCNAME">
    <vt:lpwstr>Presentation Landscape Template (Programmes)</vt:lpwstr>
  </property>
  <property fmtid="{D5CDD505-2E9C-101B-9397-08002B2CF9AE}" pid="4" name="DM_AUTHOR">
    <vt:lpwstr>Anne-Flore Laloe</vt:lpwstr>
  </property>
  <property fmtid="{D5CDD505-2E9C-101B-9397-08002B2CF9AE}" pid="5" name="DM_E_DOC_NO">
    <vt:lpwstr>EUM/IM/TEM/21/1250548</vt:lpwstr>
  </property>
  <property fmtid="{D5CDD505-2E9C-101B-9397-08002B2CF9AE}" pid="6" name="DM_E_VER_NO">
    <vt:lpwstr>1B</vt:lpwstr>
  </property>
  <property fmtid="{D5CDD505-2E9C-101B-9397-08002B2CF9AE}" pid="7" name="DM_E_ISS_DATE">
    <vt:lpwstr>28 March 2022</vt:lpwstr>
  </property>
  <property fmtid="{D5CDD505-2E9C-101B-9397-08002B2CF9AE}" pid="8" name="DM_E_FROM_PERS2">
    <vt:lpwstr/>
  </property>
  <property fmtid="{D5CDD505-2E9C-101B-9397-08002B2CF9AE}" pid="9" name="DM_E_CONFID">
    <vt:lpwstr/>
  </property>
  <property fmtid="{D5CDD505-2E9C-101B-9397-08002B2CF9AE}" pid="10" name="DM_E_WBS_CODE">
    <vt:lpwstr/>
  </property>
  <property fmtid="{D5CDD505-2E9C-101B-9397-08002B2CF9AE}" pid="11" name="DM_E_DISTRIB">
    <vt:lpwstr/>
  </property>
  <property fmtid="{D5CDD505-2E9C-101B-9397-08002B2CF9AE}" pid="12" name="DIGITAL_SIGNATURE">
    <vt:lpwstr/>
  </property>
</Properties>
</file>