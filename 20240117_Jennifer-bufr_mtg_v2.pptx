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74" r:id="rId2"/>
    <p:sldId id="364" r:id="rId3"/>
    <p:sldId id="365" r:id="rId4"/>
    <p:sldId id="366" r:id="rId5"/>
    <p:sldId id="367" r:id="rId6"/>
    <p:sldId id="371" r:id="rId7"/>
    <p:sldId id="368" r:id="rId8"/>
    <p:sldId id="369" r:id="rId9"/>
    <p:sldId id="370" r:id="rId10"/>
    <p:sldId id="3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47E8A0-8A93-4D49-85B4-6BBF973F9CDE}" v="8" dt="2024-01-17T15:04:06.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27"/>
  </p:normalViewPr>
  <p:slideViewPr>
    <p:cSldViewPr snapToGrid="0">
      <p:cViewPr varScale="1">
        <p:scale>
          <a:sx n="118" d="100"/>
          <a:sy n="118" d="100"/>
        </p:scale>
        <p:origin x="8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Haase" clId="Web-{8847E8A0-8A93-4D49-85B4-6BBF973F9CDE}"/>
    <pc:docChg chg="delSld modSld">
      <pc:chgData name="J Haase" userId="" providerId="" clId="Web-{8847E8A0-8A93-4D49-85B4-6BBF973F9CDE}" dt="2024-01-17T15:04:04.744" v="6" actId="20577"/>
      <pc:docMkLst>
        <pc:docMk/>
      </pc:docMkLst>
      <pc:sldChg chg="modSp">
        <pc:chgData name="J Haase" userId="" providerId="" clId="Web-{8847E8A0-8A93-4D49-85B4-6BBF973F9CDE}" dt="2024-01-17T14:40:52.128" v="1" actId="20577"/>
        <pc:sldMkLst>
          <pc:docMk/>
          <pc:sldMk cId="987840360" sldId="371"/>
        </pc:sldMkLst>
        <pc:spChg chg="mod">
          <ac:chgData name="J Haase" userId="" providerId="" clId="Web-{8847E8A0-8A93-4D49-85B4-6BBF973F9CDE}" dt="2024-01-17T14:40:52.128" v="1" actId="20577"/>
          <ac:spMkLst>
            <pc:docMk/>
            <pc:sldMk cId="987840360" sldId="371"/>
            <ac:spMk id="3" creationId="{9981142B-2F85-C078-555D-4C133DCC1DCD}"/>
          </ac:spMkLst>
        </pc:spChg>
      </pc:sldChg>
      <pc:sldChg chg="del">
        <pc:chgData name="J Haase" userId="" providerId="" clId="Web-{8847E8A0-8A93-4D49-85B4-6BBF973F9CDE}" dt="2024-01-17T14:44:34.598" v="2"/>
        <pc:sldMkLst>
          <pc:docMk/>
          <pc:sldMk cId="219744471" sldId="373"/>
        </pc:sldMkLst>
      </pc:sldChg>
      <pc:sldChg chg="modSp">
        <pc:chgData name="J Haase" userId="" providerId="" clId="Web-{8847E8A0-8A93-4D49-85B4-6BBF973F9CDE}" dt="2024-01-17T15:04:04.744" v="6" actId="20577"/>
        <pc:sldMkLst>
          <pc:docMk/>
          <pc:sldMk cId="280259533" sldId="374"/>
        </pc:sldMkLst>
        <pc:spChg chg="mod">
          <ac:chgData name="J Haase" userId="" providerId="" clId="Web-{8847E8A0-8A93-4D49-85B4-6BBF973F9CDE}" dt="2024-01-17T15:04:04.744" v="6" actId="20577"/>
          <ac:spMkLst>
            <pc:docMk/>
            <pc:sldMk cId="280259533" sldId="374"/>
            <ac:spMk id="3" creationId="{62B45ED9-2ECD-AEFE-2C2D-B3A6A13203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ACCE3-7122-FE46-A8A5-6F7C049BCE4C}" type="datetimeFigureOut">
              <a:rPr lang="en-US" smtClean="0"/>
              <a:t>1/17/2024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DAAE5F-54D2-DD40-86DD-FAA7481487D8}" type="slidenum">
              <a:rPr lang="en-US" smtClean="0"/>
              <a:t>‹#›</a:t>
            </a:fld>
            <a:endParaRPr lang="en-US"/>
          </a:p>
        </p:txBody>
      </p:sp>
    </p:spTree>
    <p:extLst>
      <p:ext uri="{BB962C8B-B14F-4D97-AF65-F5344CB8AC3E}">
        <p14:creationId xmlns:p14="http://schemas.microsoft.com/office/powerpoint/2010/main" val="74385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81125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4DA8-5582-717E-6042-374A736F3A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B4F30B-C9A6-3F02-FFF0-6D09F02009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A5E472-D548-FF8A-AD02-6F56C03D5416}"/>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71184C45-CCFD-1231-9BB0-EF0A94A28E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DC0AC-EA6D-AE65-5FE4-FD126E070AA6}"/>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629031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507E3-62BA-C32F-C349-33657BFF2D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49F898-629E-DD4E-F7CB-DE1048D00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3620C9-FB40-45FA-9E4B-D58D662EB1B7}"/>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A70D25FE-3AA4-3D98-1491-41B2C9BD6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D836A-7A4A-973A-EA9A-E282BE9F7629}"/>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3133194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47971-8573-A493-A63C-A7DDBDA3FF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E820A6-D708-DAE4-0A09-77C7C76847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F7D764-D41F-CC33-C435-0D4C04ED5FD2}"/>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337E029E-F6AE-44AF-F248-2BA28DC43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677CE-47E3-D6C2-6ECC-2ABB4614B65B}"/>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1098360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8ED8-827A-B2A6-2460-2646905839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64AFFA-FE66-3F12-E989-6648328D47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F133EF-9983-4BB9-4C1C-3F1FAA5177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69CCB5-4773-2A36-9640-575BED3C5433}"/>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6" name="Footer Placeholder 5">
            <a:extLst>
              <a:ext uri="{FF2B5EF4-FFF2-40B4-BE49-F238E27FC236}">
                <a16:creationId xmlns:a16="http://schemas.microsoft.com/office/drawing/2014/main" id="{38B5C7DE-3E4F-E64E-1731-225C10884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2D6F4-7721-4DA6-B8D8-ADD7D6A1D00F}"/>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201658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75FB6-D290-FA95-CF14-CE2794AA7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C57A4D-B916-FBA3-67C9-B6586FF38A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508276-6B90-4B28-B4D8-C0ABD26A0A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75C11E-8E4C-8CE9-720F-E3BA8761EC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61CFC-0BCD-DA76-1931-AAD39A70B8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FC6C65-81B7-7D78-B9B1-8E607CC706BE}"/>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8" name="Footer Placeholder 7">
            <a:extLst>
              <a:ext uri="{FF2B5EF4-FFF2-40B4-BE49-F238E27FC236}">
                <a16:creationId xmlns:a16="http://schemas.microsoft.com/office/drawing/2014/main" id="{9C584722-2077-FFFB-C856-8EE68EA4E8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2B64F1-0990-6F3E-6D23-3466CA068992}"/>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592438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8FA48-866F-340F-BEC1-49C9CFE95C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77162E-7614-7D67-2A5C-E60BC60510D5}"/>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4" name="Footer Placeholder 3">
            <a:extLst>
              <a:ext uri="{FF2B5EF4-FFF2-40B4-BE49-F238E27FC236}">
                <a16:creationId xmlns:a16="http://schemas.microsoft.com/office/drawing/2014/main" id="{EF91B871-1E88-CFC0-CDF9-B3477A673E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D1CEA8-37CE-77B1-3846-DACA54AD14DA}"/>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745960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9DBF4-057F-F7C9-C2B5-F1D9052B9F40}"/>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3" name="Footer Placeholder 2">
            <a:extLst>
              <a:ext uri="{FF2B5EF4-FFF2-40B4-BE49-F238E27FC236}">
                <a16:creationId xmlns:a16="http://schemas.microsoft.com/office/drawing/2014/main" id="{A0FD4D0A-1393-EC66-9A81-88CA5E5B54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64EFA4-D6C5-0523-AA2A-EA59FF312734}"/>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48277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A2E4-61B0-D87B-518B-1356F1D2A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2D18A4-ABD0-94A9-3DE6-F991211989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BC118E-AC0F-0FAD-4524-017346282C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C54BFC-8EA3-453F-800B-2218D9D74D5A}"/>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6" name="Footer Placeholder 5">
            <a:extLst>
              <a:ext uri="{FF2B5EF4-FFF2-40B4-BE49-F238E27FC236}">
                <a16:creationId xmlns:a16="http://schemas.microsoft.com/office/drawing/2014/main" id="{212CFD5E-A157-EB81-AD8F-362FA765C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A46B6-9BDA-59F7-2591-96C736C9404E}"/>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3236156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AD6D-5136-3496-EA16-98B823097C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8D2C0-E5A3-72E3-A176-AEB98E40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F855C2-BD7A-8763-B95A-077E30777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A33C85-8720-6D84-FA3A-55452F239542}"/>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6" name="Footer Placeholder 5">
            <a:extLst>
              <a:ext uri="{FF2B5EF4-FFF2-40B4-BE49-F238E27FC236}">
                <a16:creationId xmlns:a16="http://schemas.microsoft.com/office/drawing/2014/main" id="{AEC97EDD-6682-7438-A4CF-868B13F0E3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89B2A3-30F3-D065-5518-BB503E7D7E73}"/>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3671004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C721-0F41-7884-33A6-F081AAE0FD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6B8462-F5B5-519B-67CA-0DDC0AC728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3C7439-CD77-8A4B-3878-F65CE96F69E8}"/>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18F40B87-6BC8-7988-7B53-8000F4317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F9892-0FB0-8EDA-4C1C-39A98CAD8A84}"/>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786616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BA21-3461-14B4-036B-FEDE054396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DBB0C1-B0F8-F0A7-2A99-3F74E9C798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EB7B3-8FCF-C203-6173-FB3BF5E40801}"/>
              </a:ext>
            </a:extLst>
          </p:cNvPr>
          <p:cNvSpPr>
            <a:spLocks noGrp="1"/>
          </p:cNvSpPr>
          <p:nvPr>
            <p:ph type="dt" sz="half" idx="10"/>
          </p:nvPr>
        </p:nvSpPr>
        <p:spPr/>
        <p:txBody>
          <a:body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42602E18-D448-92FE-14E2-946F17F597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3DBFA-2AC2-EAF6-7742-AAE21BED575F}"/>
              </a:ext>
            </a:extLst>
          </p:cNvPr>
          <p:cNvSpPr>
            <a:spLocks noGrp="1"/>
          </p:cNvSpPr>
          <p:nvPr>
            <p:ph type="sldNum" sz="quarter" idx="12"/>
          </p:nvPr>
        </p:nvSpPr>
        <p:spPr/>
        <p:txBody>
          <a:bodyPr/>
          <a:lstStyle/>
          <a:p>
            <a:fld id="{352817F2-B296-B343-9C28-E9BAA6F9216D}" type="slidenum">
              <a:rPr lang="en-US" smtClean="0"/>
              <a:t>‹#›</a:t>
            </a:fld>
            <a:endParaRPr lang="en-US"/>
          </a:p>
        </p:txBody>
      </p:sp>
    </p:spTree>
    <p:extLst>
      <p:ext uri="{BB962C8B-B14F-4D97-AF65-F5344CB8AC3E}">
        <p14:creationId xmlns:p14="http://schemas.microsoft.com/office/powerpoint/2010/main" val="3565071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Title+Content+PhotoLeft">
  <p:cSld name="4_Title+Content+PhotoLeft">
    <p:bg>
      <p:bgPr>
        <a:solidFill>
          <a:schemeClr val="lt1"/>
        </a:solidFill>
        <a:effectLst/>
      </p:bgPr>
    </p:bg>
    <p:spTree>
      <p:nvGrpSpPr>
        <p:cNvPr id="1" name="Shape 19"/>
        <p:cNvGrpSpPr/>
        <p:nvPr/>
      </p:nvGrpSpPr>
      <p:grpSpPr>
        <a:xfrm>
          <a:off x="0" y="0"/>
          <a:ext cx="0" cy="0"/>
          <a:chOff x="0" y="0"/>
          <a:chExt cx="0" cy="0"/>
        </a:xfrm>
      </p:grpSpPr>
      <p:sp>
        <p:nvSpPr>
          <p:cNvPr id="20" name="Google Shape;20;p14"/>
          <p:cNvSpPr/>
          <p:nvPr/>
        </p:nvSpPr>
        <p:spPr>
          <a:xfrm>
            <a:off x="-1091981" y="855533"/>
            <a:ext cx="7634671" cy="7500908"/>
          </a:xfrm>
          <a:custGeom>
            <a:avLst/>
            <a:gdLst/>
            <a:ahLst/>
            <a:cxnLst/>
            <a:rect l="l" t="t" r="r" b="b"/>
            <a:pathLst>
              <a:path w="5899869" h="5796501" extrusionOk="0">
                <a:moveTo>
                  <a:pt x="4431664" y="3180611"/>
                </a:moveTo>
                <a:lnTo>
                  <a:pt x="5620384" y="4369332"/>
                </a:lnTo>
                <a:lnTo>
                  <a:pt x="5327337" y="4679355"/>
                </a:lnTo>
                <a:lnTo>
                  <a:pt x="2960212" y="4667965"/>
                </a:lnTo>
                <a:lnTo>
                  <a:pt x="4431664" y="3180611"/>
                </a:lnTo>
                <a:close/>
                <a:moveTo>
                  <a:pt x="1554481" y="282360"/>
                </a:moveTo>
                <a:lnTo>
                  <a:pt x="2743201" y="1471081"/>
                </a:lnTo>
                <a:lnTo>
                  <a:pt x="799106" y="3423126"/>
                </a:lnTo>
                <a:cubicBezTo>
                  <a:pt x="797781" y="2629321"/>
                  <a:pt x="796455" y="1835515"/>
                  <a:pt x="795130" y="1041710"/>
                </a:cubicBezTo>
                <a:lnTo>
                  <a:pt x="1554481" y="282360"/>
                </a:lnTo>
                <a:close/>
                <a:moveTo>
                  <a:pt x="4711149" y="0"/>
                </a:moveTo>
                <a:lnTo>
                  <a:pt x="5899869" y="1188721"/>
                </a:lnTo>
                <a:lnTo>
                  <a:pt x="1307990" y="5796501"/>
                </a:lnTo>
                <a:lnTo>
                  <a:pt x="0" y="4735002"/>
                </a:lnTo>
                <a:lnTo>
                  <a:pt x="4711149" y="0"/>
                </a:lnTo>
                <a:close/>
              </a:path>
            </a:pathLst>
          </a:custGeom>
          <a:solidFill>
            <a:srgbClr val="006A96">
              <a:alpha val="4705"/>
            </a:srgbClr>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 name="Google Shape;21;p14"/>
          <p:cNvSpPr txBox="1">
            <a:spLocks noGrp="1"/>
          </p:cNvSpPr>
          <p:nvPr>
            <p:ph type="ctrTitle"/>
          </p:nvPr>
        </p:nvSpPr>
        <p:spPr>
          <a:xfrm>
            <a:off x="-164757" y="250878"/>
            <a:ext cx="12007844" cy="811807"/>
          </a:xfrm>
          <a:prstGeom prst="rect">
            <a:avLst/>
          </a:prstGeom>
          <a:solidFill>
            <a:srgbClr val="006C92"/>
          </a:solidFill>
          <a:ln>
            <a:noFill/>
          </a:ln>
        </p:spPr>
        <p:txBody>
          <a:bodyPr spcFirstLastPara="1" wrap="square" lIns="457200" tIns="0" rIns="0" bIns="0" anchor="ctr" anchorCtr="0">
            <a:noAutofit/>
          </a:bodyPr>
          <a:lstStyle>
            <a:lvl1pPr lvl="0" algn="l">
              <a:lnSpc>
                <a:spcPct val="86666"/>
              </a:lnSpc>
              <a:spcBef>
                <a:spcPts val="0"/>
              </a:spcBef>
              <a:spcAft>
                <a:spcPts val="0"/>
              </a:spcAft>
              <a:buClr>
                <a:schemeClr val="lt1"/>
              </a:buClr>
              <a:buSzPts val="2250"/>
              <a:buFont typeface="Calibri"/>
              <a:buNone/>
              <a:defRPr sz="3001"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4"/>
          <p:cNvSpPr txBox="1">
            <a:spLocks noGrp="1"/>
          </p:cNvSpPr>
          <p:nvPr>
            <p:ph type="body" idx="1"/>
          </p:nvPr>
        </p:nvSpPr>
        <p:spPr>
          <a:xfrm>
            <a:off x="406401" y="1351435"/>
            <a:ext cx="5577305" cy="5163671"/>
          </a:xfrm>
          <a:prstGeom prst="rect">
            <a:avLst/>
          </a:prstGeom>
          <a:noFill/>
          <a:ln>
            <a:noFill/>
          </a:ln>
        </p:spPr>
        <p:txBody>
          <a:bodyPr spcFirstLastPara="1" wrap="square" lIns="0" tIns="0" rIns="0" bIns="0" anchor="t" anchorCtr="0">
            <a:noAutofit/>
          </a:bodyPr>
          <a:lstStyle>
            <a:lvl1pPr marL="609570" lvl="0" indent="-304784" algn="l">
              <a:lnSpc>
                <a:spcPct val="90000"/>
              </a:lnSpc>
              <a:spcBef>
                <a:spcPts val="601"/>
              </a:spcBef>
              <a:spcAft>
                <a:spcPts val="0"/>
              </a:spcAft>
              <a:buClr>
                <a:srgbClr val="0C68AC"/>
              </a:buClr>
              <a:buSzPts val="1500"/>
              <a:buNone/>
              <a:defRPr sz="2000">
                <a:solidFill>
                  <a:srgbClr val="006C92"/>
                </a:solidFill>
              </a:defRPr>
            </a:lvl1pPr>
            <a:lvl2pPr marL="1219139" lvl="1" indent="-304784" algn="l">
              <a:lnSpc>
                <a:spcPct val="90000"/>
              </a:lnSpc>
              <a:spcBef>
                <a:spcPts val="1200"/>
              </a:spcBef>
              <a:spcAft>
                <a:spcPts val="0"/>
              </a:spcAft>
              <a:buClr>
                <a:srgbClr val="0C68AC"/>
              </a:buClr>
              <a:buSzPts val="1500"/>
              <a:buNone/>
              <a:defRPr sz="2000">
                <a:solidFill>
                  <a:srgbClr val="006C92"/>
                </a:solidFill>
              </a:defRPr>
            </a:lvl2pPr>
            <a:lvl3pPr marL="1828709" lvl="2" indent="-304784" algn="l">
              <a:lnSpc>
                <a:spcPct val="90000"/>
              </a:lnSpc>
              <a:spcBef>
                <a:spcPts val="1200"/>
              </a:spcBef>
              <a:spcAft>
                <a:spcPts val="0"/>
              </a:spcAft>
              <a:buClr>
                <a:srgbClr val="0C68AC"/>
              </a:buClr>
              <a:buSzPts val="1500"/>
              <a:buNone/>
              <a:defRPr sz="2000">
                <a:solidFill>
                  <a:srgbClr val="006C92"/>
                </a:solidFill>
              </a:defRPr>
            </a:lvl3pPr>
            <a:lvl4pPr marL="2438278" lvl="3" indent="-304784" algn="l">
              <a:lnSpc>
                <a:spcPct val="90000"/>
              </a:lnSpc>
              <a:spcBef>
                <a:spcPts val="1200"/>
              </a:spcBef>
              <a:spcAft>
                <a:spcPts val="0"/>
              </a:spcAft>
              <a:buClr>
                <a:srgbClr val="0C68AC"/>
              </a:buClr>
              <a:buSzPts val="1500"/>
              <a:buNone/>
              <a:defRPr sz="2000">
                <a:solidFill>
                  <a:srgbClr val="006C92"/>
                </a:solidFill>
              </a:defRPr>
            </a:lvl4pPr>
            <a:lvl5pPr marL="3047848" lvl="4" indent="-304784" algn="l">
              <a:lnSpc>
                <a:spcPct val="90000"/>
              </a:lnSpc>
              <a:spcBef>
                <a:spcPts val="1200"/>
              </a:spcBef>
              <a:spcAft>
                <a:spcPts val="0"/>
              </a:spcAft>
              <a:buClr>
                <a:srgbClr val="0C68AC"/>
              </a:buClr>
              <a:buSzPts val="1500"/>
              <a:buNone/>
              <a:defRPr sz="2000">
                <a:solidFill>
                  <a:srgbClr val="006C92"/>
                </a:solidFill>
              </a:defRPr>
            </a:lvl5pPr>
            <a:lvl6pPr marL="3657417" lvl="5" indent="-457177" algn="l">
              <a:spcBef>
                <a:spcPts val="1200"/>
              </a:spcBef>
              <a:spcAft>
                <a:spcPts val="0"/>
              </a:spcAft>
              <a:buClr>
                <a:schemeClr val="dk1"/>
              </a:buClr>
              <a:buSzPts val="1800"/>
              <a:buChar char="•"/>
              <a:defRPr/>
            </a:lvl6pPr>
            <a:lvl7pPr marL="4266987" lvl="6" indent="-457177" algn="l">
              <a:spcBef>
                <a:spcPts val="480"/>
              </a:spcBef>
              <a:spcAft>
                <a:spcPts val="0"/>
              </a:spcAft>
              <a:buClr>
                <a:schemeClr val="dk1"/>
              </a:buClr>
              <a:buSzPts val="1800"/>
              <a:buChar char="•"/>
              <a:defRPr/>
            </a:lvl7pPr>
            <a:lvl8pPr marL="4876557" lvl="7" indent="-457177" algn="l">
              <a:spcBef>
                <a:spcPts val="480"/>
              </a:spcBef>
              <a:spcAft>
                <a:spcPts val="0"/>
              </a:spcAft>
              <a:buClr>
                <a:schemeClr val="dk1"/>
              </a:buClr>
              <a:buSzPts val="1800"/>
              <a:buChar char="•"/>
              <a:defRPr/>
            </a:lvl8pPr>
            <a:lvl9pPr marL="5486126" lvl="8" indent="-457177" algn="l">
              <a:spcBef>
                <a:spcPts val="480"/>
              </a:spcBef>
              <a:spcAft>
                <a:spcPts val="0"/>
              </a:spcAft>
              <a:buClr>
                <a:schemeClr val="dk1"/>
              </a:buClr>
              <a:buSzPts val="1800"/>
              <a:buChar char="•"/>
              <a:defRPr/>
            </a:lvl9pPr>
          </a:lstStyle>
          <a:p>
            <a:endParaRPr/>
          </a:p>
        </p:txBody>
      </p:sp>
      <p:sp>
        <p:nvSpPr>
          <p:cNvPr id="23" name="Google Shape;23;p14"/>
          <p:cNvSpPr txBox="1">
            <a:spLocks noGrp="1"/>
          </p:cNvSpPr>
          <p:nvPr>
            <p:ph type="body" idx="2"/>
          </p:nvPr>
        </p:nvSpPr>
        <p:spPr>
          <a:xfrm>
            <a:off x="6200277" y="1351435"/>
            <a:ext cx="5566612" cy="5163671"/>
          </a:xfrm>
          <a:prstGeom prst="rect">
            <a:avLst/>
          </a:prstGeom>
          <a:noFill/>
          <a:ln>
            <a:noFill/>
          </a:ln>
        </p:spPr>
        <p:txBody>
          <a:bodyPr spcFirstLastPara="1" wrap="square" lIns="0" tIns="0" rIns="0" bIns="0" anchor="t" anchorCtr="0">
            <a:noAutofit/>
          </a:bodyPr>
          <a:lstStyle>
            <a:lvl1pPr marL="609570" lvl="0" indent="-304784" algn="l">
              <a:lnSpc>
                <a:spcPct val="90000"/>
              </a:lnSpc>
              <a:spcBef>
                <a:spcPts val="601"/>
              </a:spcBef>
              <a:spcAft>
                <a:spcPts val="0"/>
              </a:spcAft>
              <a:buClr>
                <a:srgbClr val="0C68AC"/>
              </a:buClr>
              <a:buSzPts val="1500"/>
              <a:buNone/>
              <a:defRPr sz="2000">
                <a:solidFill>
                  <a:srgbClr val="006C92"/>
                </a:solidFill>
              </a:defRPr>
            </a:lvl1pPr>
            <a:lvl2pPr marL="1219139" lvl="1" indent="-304784" algn="l">
              <a:lnSpc>
                <a:spcPct val="90000"/>
              </a:lnSpc>
              <a:spcBef>
                <a:spcPts val="1200"/>
              </a:spcBef>
              <a:spcAft>
                <a:spcPts val="0"/>
              </a:spcAft>
              <a:buClr>
                <a:srgbClr val="0C68AC"/>
              </a:buClr>
              <a:buSzPts val="1500"/>
              <a:buNone/>
              <a:defRPr sz="2000">
                <a:solidFill>
                  <a:srgbClr val="006C92"/>
                </a:solidFill>
              </a:defRPr>
            </a:lvl2pPr>
            <a:lvl3pPr marL="1828709" lvl="2" indent="-304784" algn="l">
              <a:lnSpc>
                <a:spcPct val="90000"/>
              </a:lnSpc>
              <a:spcBef>
                <a:spcPts val="1200"/>
              </a:spcBef>
              <a:spcAft>
                <a:spcPts val="0"/>
              </a:spcAft>
              <a:buClr>
                <a:srgbClr val="0C68AC"/>
              </a:buClr>
              <a:buSzPts val="1500"/>
              <a:buNone/>
              <a:defRPr sz="2000">
                <a:solidFill>
                  <a:srgbClr val="006C92"/>
                </a:solidFill>
              </a:defRPr>
            </a:lvl3pPr>
            <a:lvl4pPr marL="2438278" lvl="3" indent="-304784" algn="l">
              <a:lnSpc>
                <a:spcPct val="90000"/>
              </a:lnSpc>
              <a:spcBef>
                <a:spcPts val="1200"/>
              </a:spcBef>
              <a:spcAft>
                <a:spcPts val="0"/>
              </a:spcAft>
              <a:buClr>
                <a:srgbClr val="0C68AC"/>
              </a:buClr>
              <a:buSzPts val="1500"/>
              <a:buNone/>
              <a:defRPr sz="2000">
                <a:solidFill>
                  <a:srgbClr val="006C92"/>
                </a:solidFill>
              </a:defRPr>
            </a:lvl4pPr>
            <a:lvl5pPr marL="3047848" lvl="4" indent="-304784" algn="l">
              <a:lnSpc>
                <a:spcPct val="90000"/>
              </a:lnSpc>
              <a:spcBef>
                <a:spcPts val="1200"/>
              </a:spcBef>
              <a:spcAft>
                <a:spcPts val="0"/>
              </a:spcAft>
              <a:buClr>
                <a:srgbClr val="0C68AC"/>
              </a:buClr>
              <a:buSzPts val="1500"/>
              <a:buNone/>
              <a:defRPr sz="2000">
                <a:solidFill>
                  <a:srgbClr val="006C92"/>
                </a:solidFill>
              </a:defRPr>
            </a:lvl5pPr>
            <a:lvl6pPr marL="3657417" lvl="5" indent="-457177" algn="l">
              <a:spcBef>
                <a:spcPts val="1200"/>
              </a:spcBef>
              <a:spcAft>
                <a:spcPts val="0"/>
              </a:spcAft>
              <a:buClr>
                <a:schemeClr val="dk1"/>
              </a:buClr>
              <a:buSzPts val="1800"/>
              <a:buChar char="•"/>
              <a:defRPr/>
            </a:lvl6pPr>
            <a:lvl7pPr marL="4266987" lvl="6" indent="-457177" algn="l">
              <a:spcBef>
                <a:spcPts val="480"/>
              </a:spcBef>
              <a:spcAft>
                <a:spcPts val="0"/>
              </a:spcAft>
              <a:buClr>
                <a:schemeClr val="dk1"/>
              </a:buClr>
              <a:buSzPts val="1800"/>
              <a:buChar char="•"/>
              <a:defRPr/>
            </a:lvl7pPr>
            <a:lvl8pPr marL="4876557" lvl="7" indent="-457177" algn="l">
              <a:spcBef>
                <a:spcPts val="480"/>
              </a:spcBef>
              <a:spcAft>
                <a:spcPts val="0"/>
              </a:spcAft>
              <a:buClr>
                <a:schemeClr val="dk1"/>
              </a:buClr>
              <a:buSzPts val="1800"/>
              <a:buChar char="•"/>
              <a:defRPr/>
            </a:lvl8pPr>
            <a:lvl9pPr marL="5486126" lvl="8" indent="-457177" algn="l">
              <a:spcBef>
                <a:spcPts val="48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31317968"/>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CAECE-83E5-5C87-1CF2-7DC9ED4AAD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94CE0F-FB38-5D44-4744-22F75AA4B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0D1E1B-AFF1-4C92-3795-CBF3DF2F34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2C396-ACA5-DF4C-A953-988A5E7CA6D0}" type="datetimeFigureOut">
              <a:rPr lang="en-US" smtClean="0"/>
              <a:t>1/17/2024</a:t>
            </a:fld>
            <a:endParaRPr lang="en-US"/>
          </a:p>
        </p:txBody>
      </p:sp>
      <p:sp>
        <p:nvSpPr>
          <p:cNvPr id="5" name="Footer Placeholder 4">
            <a:extLst>
              <a:ext uri="{FF2B5EF4-FFF2-40B4-BE49-F238E27FC236}">
                <a16:creationId xmlns:a16="http://schemas.microsoft.com/office/drawing/2014/main" id="{4E82DF36-89A0-D2E0-96CD-0ABC4949B3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797029-3FBD-14D7-AAEF-BE2E57666E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2817F2-B296-B343-9C28-E9BAA6F9216D}" type="slidenum">
              <a:rPr lang="en-US" smtClean="0"/>
              <a:t>‹#›</a:t>
            </a:fld>
            <a:endParaRPr lang="en-US"/>
          </a:p>
        </p:txBody>
      </p:sp>
    </p:spTree>
    <p:extLst>
      <p:ext uri="{BB962C8B-B14F-4D97-AF65-F5344CB8AC3E}">
        <p14:creationId xmlns:p14="http://schemas.microsoft.com/office/powerpoint/2010/main" val="2038340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urldefense.com/v3/__https:/library.wmo.int/records/item/35625-manual-on-codes-volume-i-2-international-codes__;!!Mih3wA!CntYIsK373Q_QktwE6RW7NrhHdrlyqqek-YFZr4YOqvLj0Sfjl-MdsGPl2CG24U-5s-qX2AIQwadrEA6Vb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mailto:holly.uhlenhake@noaa.go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D7EF-E7FD-9EDC-5276-FBB6D16E70E1}"/>
              </a:ext>
            </a:extLst>
          </p:cNvPr>
          <p:cNvSpPr>
            <a:spLocks noGrp="1"/>
          </p:cNvSpPr>
          <p:nvPr>
            <p:ph type="ctrTitle"/>
          </p:nvPr>
        </p:nvSpPr>
        <p:spPr/>
        <p:txBody>
          <a:bodyPr/>
          <a:lstStyle/>
          <a:p>
            <a:r>
              <a:rPr lang="en-US" dirty="0"/>
              <a:t>BUFR update for ARO</a:t>
            </a:r>
          </a:p>
        </p:txBody>
      </p:sp>
      <p:sp>
        <p:nvSpPr>
          <p:cNvPr id="3" name="Subtitle 2">
            <a:extLst>
              <a:ext uri="{FF2B5EF4-FFF2-40B4-BE49-F238E27FC236}">
                <a16:creationId xmlns:a16="http://schemas.microsoft.com/office/drawing/2014/main" id="{62B45ED9-2ECD-AEFE-2C2D-B3A6A132034E}"/>
              </a:ext>
            </a:extLst>
          </p:cNvPr>
          <p:cNvSpPr>
            <a:spLocks noGrp="1"/>
          </p:cNvSpPr>
          <p:nvPr>
            <p:ph type="subTitle" idx="1"/>
          </p:nvPr>
        </p:nvSpPr>
        <p:spPr/>
        <p:txBody>
          <a:bodyPr vert="horz" lIns="91440" tIns="45720" rIns="91440" bIns="45720" rtlCol="0" anchor="t">
            <a:normAutofit/>
          </a:bodyPr>
          <a:lstStyle/>
          <a:p>
            <a:r>
              <a:rPr lang="en-US" dirty="0"/>
              <a:t>Jennifer Haase</a:t>
            </a:r>
          </a:p>
          <a:p>
            <a:r>
              <a:rPr lang="en-US" dirty="0"/>
              <a:t>Input from Jeff Ator and team @NOAA</a:t>
            </a:r>
          </a:p>
          <a:p>
            <a:r>
              <a:rPr lang="en-US" dirty="0">
                <a:cs typeface="Calibri"/>
              </a:rPr>
              <a:t>2024-01-17</a:t>
            </a:r>
          </a:p>
        </p:txBody>
      </p:sp>
    </p:spTree>
    <p:extLst>
      <p:ext uri="{BB962C8B-B14F-4D97-AF65-F5344CB8AC3E}">
        <p14:creationId xmlns:p14="http://schemas.microsoft.com/office/powerpoint/2010/main" val="28025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err="1"/>
              <a:t>Changes</a:t>
            </a:r>
            <a:r>
              <a:rPr lang="pl-PL" dirty="0"/>
              <a:t> to BUFR for ARO</a:t>
            </a:r>
          </a:p>
        </p:txBody>
      </p:sp>
      <p:sp>
        <p:nvSpPr>
          <p:cNvPr id="8" name="Symbol zastępczy tekstu 5">
            <a:extLst>
              <a:ext uri="{FF2B5EF4-FFF2-40B4-BE49-F238E27FC236}">
                <a16:creationId xmlns:a16="http://schemas.microsoft.com/office/drawing/2014/main" id="{FD8FC851-6717-4B6E-8A79-C5F13A8BA1B9}"/>
              </a:ext>
            </a:extLst>
          </p:cNvPr>
          <p:cNvSpPr txBox="1">
            <a:spLocks/>
          </p:cNvSpPr>
          <p:nvPr/>
        </p:nvSpPr>
        <p:spPr>
          <a:xfrm>
            <a:off x="355123" y="1690688"/>
            <a:ext cx="4591848" cy="4897300"/>
          </a:xfrm>
          <a:prstGeom prst="rect">
            <a:avLst/>
          </a:prstGeom>
        </p:spPr>
        <p:txBody>
          <a:bodyPr vert="horz" lIns="0" tIns="0" rIns="0" bIns="0" rtlCol="0">
            <a:noAutofit/>
          </a:bodyPr>
          <a:lstStyle>
            <a:lvl1pPr algn="l" defTabSz="180000" rtl="0" fontAlgn="base">
              <a:spcBef>
                <a:spcPts val="300"/>
              </a:spcBef>
              <a:spcAft>
                <a:spcPct val="0"/>
              </a:spcAft>
              <a:buClr>
                <a:schemeClr val="accent1"/>
              </a:buClr>
              <a:buFont typeface="Arial" pitchFamily="34" charset="0"/>
              <a:tabLst>
                <a:tab pos="180000" algn="l"/>
                <a:tab pos="360000" algn="l"/>
                <a:tab pos="540000" algn="l"/>
                <a:tab pos="720000" algn="l"/>
                <a:tab pos="900000" algn="l"/>
                <a:tab pos="1080000" algn="l"/>
              </a:tabLst>
              <a:defRPr sz="1400" kern="1200" spc="-20" baseline="0">
                <a:solidFill>
                  <a:schemeClr val="tx2"/>
                </a:solidFill>
                <a:latin typeface="+mn-lt"/>
                <a:ea typeface="+mn-ea"/>
                <a:cs typeface="+mn-cs"/>
              </a:defRPr>
            </a:lvl1pPr>
            <a:lvl2pPr marL="180975" indent="-180975" algn="l" defTabSz="180000" rtl="0" fontAlgn="base">
              <a:spcBef>
                <a:spcPts val="300"/>
              </a:spcBef>
              <a:spcAft>
                <a:spcPct val="0"/>
              </a:spcAft>
              <a:buClr>
                <a:schemeClr val="accent1"/>
              </a:buClr>
              <a:buSzPct val="140000"/>
              <a:buFont typeface="Arial" panose="020B0604020202020204" pitchFamily="34" charset="0"/>
              <a:buChar char="•"/>
              <a:tabLst>
                <a:tab pos="180975" algn="l"/>
                <a:tab pos="357188" algn="l"/>
                <a:tab pos="538163" algn="l"/>
                <a:tab pos="714375" algn="l"/>
                <a:tab pos="896938" algn="l"/>
              </a:tabLst>
              <a:defRPr sz="1400" kern="1200" spc="-20" baseline="0">
                <a:solidFill>
                  <a:schemeClr val="tx2"/>
                </a:solidFill>
                <a:latin typeface="+mn-lt"/>
                <a:ea typeface="+mn-ea"/>
                <a:cs typeface="+mn-cs"/>
              </a:defRPr>
            </a:lvl2pPr>
            <a:lvl3pPr marL="358775" indent="-177800" algn="l" defTabSz="180000" rtl="0" fontAlgn="base">
              <a:spcBef>
                <a:spcPts val="300"/>
              </a:spcBef>
              <a:spcAft>
                <a:spcPct val="0"/>
              </a:spcAft>
              <a:buClr>
                <a:schemeClr val="tx2"/>
              </a:buClr>
              <a:buSzPct val="140000"/>
              <a:buFont typeface="Arial" panose="020B0604020202020204" pitchFamily="34" charset="0"/>
              <a:buChar char="•"/>
              <a:tabLst>
                <a:tab pos="179388" algn="l"/>
                <a:tab pos="357188" algn="l"/>
                <a:tab pos="358775" algn="l"/>
                <a:tab pos="538163" algn="l"/>
                <a:tab pos="719138" algn="l"/>
                <a:tab pos="898525" algn="l"/>
                <a:tab pos="1079500" algn="l"/>
              </a:tabLst>
              <a:defRPr sz="1400" kern="1200" spc="-20" baseline="0">
                <a:solidFill>
                  <a:schemeClr val="tx2"/>
                </a:solidFill>
                <a:latin typeface="+mn-lt"/>
                <a:ea typeface="+mn-ea"/>
                <a:cs typeface="+mn-cs"/>
              </a:defRPr>
            </a:lvl3pPr>
            <a:lvl4pPr marL="538163" indent="-180975" algn="l" defTabSz="180000" rtl="0" fontAlgn="base">
              <a:spcBef>
                <a:spcPts val="300"/>
              </a:spcBef>
              <a:spcAft>
                <a:spcPct val="0"/>
              </a:spcAft>
              <a:buClr>
                <a:schemeClr val="accent1"/>
              </a:buClr>
              <a:buSzPct val="140000"/>
              <a:buFont typeface="Arial" panose="020B0604020202020204" pitchFamily="34" charset="0"/>
              <a:buChar char="◦"/>
              <a:tabLst>
                <a:tab pos="180000" algn="l"/>
                <a:tab pos="360000" algn="l"/>
                <a:tab pos="540000" algn="l"/>
                <a:tab pos="720000" algn="l"/>
                <a:tab pos="900000" algn="l"/>
                <a:tab pos="1080000" algn="l"/>
              </a:tabLst>
              <a:defRPr sz="1400" kern="1200" spc="-20" baseline="0">
                <a:solidFill>
                  <a:schemeClr val="tx2"/>
                </a:solidFill>
                <a:latin typeface="+mn-lt"/>
                <a:ea typeface="+mn-ea"/>
                <a:cs typeface="+mn-cs"/>
              </a:defRPr>
            </a:lvl4pPr>
            <a:lvl5pPr marL="714375" indent="-176213" algn="l" defTabSz="180000" rtl="0" fontAlgn="base">
              <a:spcBef>
                <a:spcPts val="300"/>
              </a:spcBef>
              <a:spcAft>
                <a:spcPct val="0"/>
              </a:spcAft>
              <a:buClr>
                <a:schemeClr val="tx2"/>
              </a:buClr>
              <a:buSzPct val="140000"/>
              <a:buFont typeface="Arial" panose="020B0604020202020204" pitchFamily="34" charset="0"/>
              <a:buChar char="◦"/>
              <a:tabLst>
                <a:tab pos="179388" algn="l"/>
                <a:tab pos="358775" algn="l"/>
                <a:tab pos="539750" algn="l"/>
                <a:tab pos="719138" algn="l"/>
                <a:tab pos="1079500" algn="l"/>
              </a:tabLst>
              <a:defRPr sz="1400" kern="1200" spc="-20" baseline="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1219170" fontAlgn="auto">
              <a:spcBef>
                <a:spcPts val="0"/>
              </a:spcBef>
              <a:spcAft>
                <a:spcPts val="0"/>
              </a:spcAft>
              <a:buClrTx/>
              <a:buSzTx/>
              <a:buNone/>
              <a:tabLst/>
              <a:defRPr/>
            </a:pPr>
            <a:r>
              <a:rPr lang="pl-PL" sz="1867" dirty="0">
                <a:solidFill>
                  <a:schemeClr val="accent1"/>
                </a:solidFill>
              </a:rPr>
              <a:t>Neill </a:t>
            </a:r>
            <a:r>
              <a:rPr lang="pl-PL" sz="1867" dirty="0" err="1">
                <a:solidFill>
                  <a:schemeClr val="accent1"/>
                </a:solidFill>
              </a:rPr>
              <a:t>Bowler</a:t>
            </a:r>
            <a:r>
              <a:rPr lang="pl-PL" sz="1867" dirty="0">
                <a:solidFill>
                  <a:schemeClr val="accent1"/>
                </a:solidFill>
              </a:rPr>
              <a:t> (</a:t>
            </a:r>
            <a:r>
              <a:rPr lang="pl-PL" sz="1867" dirty="0" err="1">
                <a:solidFill>
                  <a:schemeClr val="accent1"/>
                </a:solidFill>
              </a:rPr>
              <a:t>MetOffice</a:t>
            </a:r>
            <a:r>
              <a:rPr lang="pl-PL" sz="1867" dirty="0">
                <a:solidFill>
                  <a:schemeClr val="accent1"/>
                </a:solidFill>
              </a:rPr>
              <a:t>): </a:t>
            </a:r>
            <a:r>
              <a:rPr lang="pl-PL" sz="1867" dirty="0" err="1">
                <a:solidFill>
                  <a:schemeClr val="accent1"/>
                </a:solidFill>
              </a:rPr>
              <a:t>Nov</a:t>
            </a:r>
            <a:r>
              <a:rPr lang="pl-PL" sz="1867" dirty="0">
                <a:solidFill>
                  <a:schemeClr val="accent1"/>
                </a:solidFill>
              </a:rPr>
              <a:t> 1, 2022</a:t>
            </a:r>
          </a:p>
          <a:p>
            <a:pPr marL="0" lvl="1" indent="0" defTabSz="1219170" fontAlgn="auto">
              <a:spcBef>
                <a:spcPts val="0"/>
              </a:spcBef>
              <a:spcAft>
                <a:spcPts val="0"/>
              </a:spcAft>
              <a:buClrTx/>
              <a:buSzTx/>
              <a:buNone/>
              <a:tabLst/>
              <a:defRPr/>
            </a:pPr>
            <a:r>
              <a:rPr lang="pl-PL" sz="1867" dirty="0">
                <a:solidFill>
                  <a:schemeClr val="accent1"/>
                </a:solidFill>
              </a:rPr>
              <a:t>„</a:t>
            </a:r>
            <a:r>
              <a:rPr lang="en-US" sz="1867" i="1" dirty="0">
                <a:solidFill>
                  <a:schemeClr val="accent1"/>
                </a:solidFill>
              </a:rPr>
              <a:t>For ARO or others this would have to be </a:t>
            </a:r>
            <a:r>
              <a:rPr lang="en-US" sz="1867" b="1" i="1" dirty="0">
                <a:solidFill>
                  <a:schemeClr val="accent1"/>
                </a:solidFill>
              </a:rPr>
              <a:t>2</a:t>
            </a:r>
            <a:r>
              <a:rPr lang="en-US" sz="1867" i="1" dirty="0">
                <a:solidFill>
                  <a:schemeClr val="accent1"/>
                </a:solidFill>
              </a:rPr>
              <a:t>: vertical soundings (other than satellite).</a:t>
            </a:r>
            <a:r>
              <a:rPr lang="pl-PL" sz="1867" dirty="0">
                <a:solidFill>
                  <a:schemeClr val="accent1"/>
                </a:solidFill>
              </a:rPr>
              <a:t>”</a:t>
            </a:r>
          </a:p>
          <a:p>
            <a:pPr defTabSz="1219170" fontAlgn="auto">
              <a:spcBef>
                <a:spcPts val="0"/>
              </a:spcBef>
              <a:spcAft>
                <a:spcPts val="0"/>
              </a:spcAft>
              <a:buClrTx/>
              <a:tabLst/>
              <a:defRPr/>
            </a:pPr>
            <a:endParaRPr lang="pl-PL" sz="1600" dirty="0">
              <a:solidFill>
                <a:schemeClr val="bg1">
                  <a:lumMod val="50000"/>
                </a:schemeClr>
              </a:solidFill>
            </a:endParaRPr>
          </a:p>
          <a:p>
            <a:pPr defTabSz="1219170" fontAlgn="auto">
              <a:spcBef>
                <a:spcPts val="0"/>
              </a:spcBef>
              <a:spcAft>
                <a:spcPts val="0"/>
              </a:spcAft>
              <a:buClrTx/>
              <a:tabLst/>
              <a:defRPr/>
            </a:pPr>
            <a:r>
              <a:rPr lang="pl-PL" sz="1867" b="1" dirty="0" err="1">
                <a:solidFill>
                  <a:schemeClr val="bg1">
                    <a:lumMod val="50000"/>
                  </a:schemeClr>
                </a:solidFill>
              </a:rPr>
              <a:t>Recent</a:t>
            </a:r>
            <a:r>
              <a:rPr lang="pl-PL" sz="1867" b="1" dirty="0">
                <a:solidFill>
                  <a:schemeClr val="bg1">
                    <a:lumMod val="50000"/>
                  </a:schemeClr>
                </a:solidFill>
              </a:rPr>
              <a:t> update:</a:t>
            </a:r>
          </a:p>
          <a:p>
            <a:pPr defTabSz="1219170" fontAlgn="auto">
              <a:spcBef>
                <a:spcPts val="0"/>
              </a:spcBef>
              <a:spcAft>
                <a:spcPts val="0"/>
              </a:spcAft>
              <a:buClrTx/>
              <a:tabLst/>
              <a:defRPr/>
            </a:pPr>
            <a:br>
              <a:rPr lang="pl-PL" sz="1600" dirty="0">
                <a:solidFill>
                  <a:schemeClr val="bg1">
                    <a:lumMod val="50000"/>
                  </a:schemeClr>
                </a:solidFill>
              </a:rPr>
            </a:br>
            <a:r>
              <a:rPr lang="pl-PL" sz="1867" dirty="0">
                <a:solidFill>
                  <a:schemeClr val="accent1"/>
                </a:solidFill>
              </a:rPr>
              <a:t>Jeff </a:t>
            </a:r>
            <a:r>
              <a:rPr lang="pl-PL" sz="1867" dirty="0" err="1">
                <a:solidFill>
                  <a:schemeClr val="accent1"/>
                </a:solidFill>
              </a:rPr>
              <a:t>Ator</a:t>
            </a:r>
            <a:r>
              <a:rPr lang="pl-PL" sz="1867" dirty="0">
                <a:solidFill>
                  <a:schemeClr val="accent1"/>
                </a:solidFill>
              </a:rPr>
              <a:t> (NOAA): </a:t>
            </a:r>
            <a:r>
              <a:rPr lang="pl-PL" sz="1867" dirty="0" err="1">
                <a:solidFill>
                  <a:schemeClr val="accent1"/>
                </a:solidFill>
              </a:rPr>
              <a:t>Nov</a:t>
            </a:r>
            <a:r>
              <a:rPr lang="pl-PL" sz="1867" dirty="0">
                <a:solidFill>
                  <a:schemeClr val="accent1"/>
                </a:solidFill>
              </a:rPr>
              <a:t> 23, 2023</a:t>
            </a:r>
          </a:p>
          <a:p>
            <a:pPr defTabSz="1219170" fontAlgn="auto">
              <a:spcBef>
                <a:spcPts val="0"/>
              </a:spcBef>
              <a:spcAft>
                <a:spcPts val="0"/>
              </a:spcAft>
              <a:buClrTx/>
              <a:tabLst/>
              <a:defRPr/>
            </a:pPr>
            <a:r>
              <a:rPr lang="pl-PL" sz="1867" dirty="0">
                <a:solidFill>
                  <a:schemeClr val="accent1"/>
                </a:solidFill>
              </a:rPr>
              <a:t>„</a:t>
            </a:r>
            <a:r>
              <a:rPr lang="en-US" sz="1867" i="1" dirty="0">
                <a:solidFill>
                  <a:schemeClr val="accent1"/>
                </a:solidFill>
              </a:rPr>
              <a:t>they agreed </a:t>
            </a:r>
            <a:r>
              <a:rPr lang="pl-PL" sz="1867" i="1" dirty="0">
                <a:solidFill>
                  <a:schemeClr val="accent1"/>
                </a:solidFill>
              </a:rPr>
              <a:t>[WMO] </a:t>
            </a:r>
            <a:r>
              <a:rPr lang="en-US" sz="1867" i="1" dirty="0">
                <a:solidFill>
                  <a:schemeClr val="accent1"/>
                </a:solidFill>
              </a:rPr>
              <a:t>to support an International Subcategory value of 50 for "Radio occultation sounding" in Common Code Table C-13 when the Data Category value is </a:t>
            </a:r>
            <a:r>
              <a:rPr lang="en-US" sz="1867" b="1" i="1" dirty="0">
                <a:solidFill>
                  <a:schemeClr val="accent1"/>
                </a:solidFill>
              </a:rPr>
              <a:t>2</a:t>
            </a:r>
            <a:r>
              <a:rPr lang="en-US" sz="1867" i="1" dirty="0">
                <a:solidFill>
                  <a:schemeClr val="accent1"/>
                </a:solidFill>
              </a:rPr>
              <a:t>, and not just when the Data Category value is </a:t>
            </a:r>
            <a:r>
              <a:rPr lang="en-US" sz="1867" b="1" i="1" dirty="0">
                <a:solidFill>
                  <a:schemeClr val="accent1"/>
                </a:solidFill>
              </a:rPr>
              <a:t>3</a:t>
            </a:r>
            <a:r>
              <a:rPr lang="en-US" sz="1867" i="1" dirty="0">
                <a:solidFill>
                  <a:schemeClr val="accent1"/>
                </a:solidFill>
              </a:rPr>
              <a:t>. This will be part of the next update cycle to the WMO manual in May/June of next year.</a:t>
            </a:r>
            <a:r>
              <a:rPr lang="pl-PL" sz="1867" dirty="0">
                <a:solidFill>
                  <a:schemeClr val="accent1"/>
                </a:solidFill>
              </a:rPr>
              <a:t>”</a:t>
            </a:r>
          </a:p>
          <a:p>
            <a:pPr marL="0" lvl="1" indent="0" defTabSz="1219170" fontAlgn="auto">
              <a:spcBef>
                <a:spcPts val="0"/>
              </a:spcBef>
              <a:spcAft>
                <a:spcPts val="0"/>
              </a:spcAft>
              <a:buClrTx/>
              <a:buSzTx/>
              <a:buNone/>
              <a:tabLst/>
              <a:defRPr/>
            </a:pPr>
            <a:endParaRPr lang="pl-PL" sz="1867" dirty="0">
              <a:solidFill>
                <a:schemeClr val="accent1"/>
              </a:solidFill>
            </a:endParaRPr>
          </a:p>
        </p:txBody>
      </p:sp>
      <p:pic>
        <p:nvPicPr>
          <p:cNvPr id="5" name="Obraz 4"/>
          <p:cNvPicPr>
            <a:picLocks noChangeAspect="1"/>
          </p:cNvPicPr>
          <p:nvPr/>
        </p:nvPicPr>
        <p:blipFill>
          <a:blip r:embed="rId3"/>
          <a:stretch>
            <a:fillRect/>
          </a:stretch>
        </p:blipFill>
        <p:spPr>
          <a:xfrm>
            <a:off x="5376333" y="1710267"/>
            <a:ext cx="6460544" cy="4275667"/>
          </a:xfrm>
          <a:prstGeom prst="rect">
            <a:avLst/>
          </a:prstGeom>
        </p:spPr>
      </p:pic>
    </p:spTree>
    <p:extLst>
      <p:ext uri="{BB962C8B-B14F-4D97-AF65-F5344CB8AC3E}">
        <p14:creationId xmlns:p14="http://schemas.microsoft.com/office/powerpoint/2010/main" val="1680530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DDA3A-F3DF-68B1-3834-5CAFC82E1B40}"/>
              </a:ext>
            </a:extLst>
          </p:cNvPr>
          <p:cNvSpPr>
            <a:spLocks noGrp="1"/>
          </p:cNvSpPr>
          <p:nvPr>
            <p:ph type="title"/>
          </p:nvPr>
        </p:nvSpPr>
        <p:spPr/>
        <p:txBody>
          <a:bodyPr/>
          <a:lstStyle/>
          <a:p>
            <a:r>
              <a:rPr lang="en-US" dirty="0"/>
              <a:t>Checkout </a:t>
            </a:r>
            <a:r>
              <a:rPr lang="en-US" dirty="0" err="1"/>
              <a:t>bufr</a:t>
            </a:r>
            <a:r>
              <a:rPr lang="en-US" dirty="0"/>
              <a:t> files</a:t>
            </a:r>
          </a:p>
        </p:txBody>
      </p:sp>
      <p:sp>
        <p:nvSpPr>
          <p:cNvPr id="3" name="Text Placeholder 2">
            <a:extLst>
              <a:ext uri="{FF2B5EF4-FFF2-40B4-BE49-F238E27FC236}">
                <a16:creationId xmlns:a16="http://schemas.microsoft.com/office/drawing/2014/main" id="{8DEA9315-904E-F442-4A8E-DB49B337DC22}"/>
              </a:ext>
            </a:extLst>
          </p:cNvPr>
          <p:cNvSpPr>
            <a:spLocks noGrp="1"/>
          </p:cNvSpPr>
          <p:nvPr>
            <p:ph idx="1"/>
          </p:nvPr>
        </p:nvSpPr>
        <p:spPr>
          <a:xfrm>
            <a:off x="838200" y="1825625"/>
            <a:ext cx="5355771" cy="4351338"/>
          </a:xfrm>
        </p:spPr>
        <p:txBody>
          <a:bodyPr>
            <a:normAutofit/>
          </a:bodyPr>
          <a:lstStyle/>
          <a:p>
            <a:pPr algn="l"/>
            <a:r>
              <a:rPr lang="en-US" sz="2000" b="0" i="0" u="none" strike="noStrike" dirty="0">
                <a:solidFill>
                  <a:srgbClr val="000000"/>
                </a:solidFill>
                <a:effectLst/>
                <a:latin typeface="Helvetica" pitchFamily="2" charset="0"/>
              </a:rPr>
              <a:t> I would expect the file oc_20221208200040_n49t_iop03_ucsd.bufr under iop03 to have a WMO header at the top.  </a:t>
            </a:r>
          </a:p>
          <a:p>
            <a:pPr algn="l"/>
            <a:r>
              <a:rPr lang="en-US" sz="2000" b="0" i="0" u="none" strike="noStrike" dirty="0">
                <a:solidFill>
                  <a:srgbClr val="000000"/>
                </a:solidFill>
                <a:effectLst/>
                <a:latin typeface="Helvetica" pitchFamily="2" charset="0"/>
              </a:rPr>
              <a:t>And then other BUFR messages inside would start with BUFR and end with 7777.  </a:t>
            </a:r>
          </a:p>
          <a:p>
            <a:pPr algn="l"/>
            <a:r>
              <a:rPr lang="en-US" sz="2000" b="0" i="0" u="none" strike="noStrike" dirty="0">
                <a:solidFill>
                  <a:srgbClr val="000000"/>
                </a:solidFill>
                <a:effectLst/>
                <a:latin typeface="Helvetica" pitchFamily="2" charset="0"/>
              </a:rPr>
              <a:t>If this is following a similar format to the RO data we should be able to get some headers assigned for you once you are ready.   </a:t>
            </a:r>
          </a:p>
          <a:p>
            <a:pPr algn="l"/>
            <a:r>
              <a:rPr lang="en-US" sz="2000" b="0" i="0" u="none" strike="noStrike" dirty="0">
                <a:solidFill>
                  <a:srgbClr val="000000"/>
                </a:solidFill>
                <a:effectLst/>
                <a:latin typeface="Helvetica" pitchFamily="2" charset="0"/>
              </a:rPr>
              <a:t>If you just want to put a placeholder for the WMO header we generally use a test header (CHEK12 OUTT MMDDHH) so the top line might look something like this:</a:t>
            </a:r>
          </a:p>
          <a:p>
            <a:pPr marL="0" indent="0" algn="l">
              <a:buNone/>
            </a:pPr>
            <a:br>
              <a:rPr lang="en-US" sz="2000" b="0" i="0" u="none" strike="noStrike" dirty="0">
                <a:solidFill>
                  <a:srgbClr val="000000"/>
                </a:solidFill>
                <a:effectLst/>
                <a:latin typeface="Helvetica" pitchFamily="2" charset="0"/>
              </a:rPr>
            </a:br>
            <a:endParaRPr lang="en-US" sz="2000" b="0" i="0" u="none" strike="noStrike" dirty="0">
              <a:solidFill>
                <a:srgbClr val="000000"/>
              </a:solidFill>
              <a:effectLst/>
              <a:latin typeface="Helvetica" pitchFamily="2" charset="0"/>
            </a:endParaRPr>
          </a:p>
        </p:txBody>
      </p:sp>
      <p:sp>
        <p:nvSpPr>
          <p:cNvPr id="4" name="Text Placeholder 3">
            <a:extLst>
              <a:ext uri="{FF2B5EF4-FFF2-40B4-BE49-F238E27FC236}">
                <a16:creationId xmlns:a16="http://schemas.microsoft.com/office/drawing/2014/main" id="{1C8DE3E1-21B0-9AA6-F594-B6B422659D03}"/>
              </a:ext>
            </a:extLst>
          </p:cNvPr>
          <p:cNvSpPr>
            <a:spLocks noGrp="1"/>
          </p:cNvSpPr>
          <p:nvPr>
            <p:ph type="body" idx="4294967295"/>
          </p:nvPr>
        </p:nvSpPr>
        <p:spPr>
          <a:xfrm>
            <a:off x="6626225" y="1350963"/>
            <a:ext cx="5565775" cy="5164137"/>
          </a:xfrm>
        </p:spPr>
        <p:txBody>
          <a:bodyPr>
            <a:noAutofit/>
          </a:bodyPr>
          <a:lstStyle/>
          <a:p>
            <a:pPr algn="l"/>
            <a:r>
              <a:rPr lang="en-US" sz="2000" b="0" i="0" u="none" strike="noStrike" dirty="0">
                <a:solidFill>
                  <a:srgbClr val="000000"/>
                </a:solidFill>
                <a:effectLst/>
                <a:latin typeface="Helvetica" pitchFamily="2" charset="0"/>
              </a:rPr>
              <a:t>CHEK12 OUTT 012020</a:t>
            </a:r>
          </a:p>
          <a:p>
            <a:pPr algn="l"/>
            <a:r>
              <a:rPr lang="en-US" sz="2000" b="0" i="0" u="none" strike="noStrike" dirty="0">
                <a:solidFill>
                  <a:srgbClr val="000000"/>
                </a:solidFill>
                <a:effectLst/>
                <a:latin typeface="Helvetica" pitchFamily="2" charset="0"/>
              </a:rPr>
              <a:t>BUFR^@ blahblahblah7777</a:t>
            </a:r>
          </a:p>
          <a:p>
            <a:pPr algn="l"/>
            <a:br>
              <a:rPr lang="en-US" sz="2000" b="0" i="0" u="none" strike="noStrike" dirty="0">
                <a:solidFill>
                  <a:srgbClr val="000000"/>
                </a:solidFill>
                <a:effectLst/>
                <a:latin typeface="Helvetica" pitchFamily="2" charset="0"/>
              </a:rPr>
            </a:br>
            <a:endParaRPr lang="en-US" sz="2000" b="0" i="0" u="none" strike="noStrike" dirty="0">
              <a:solidFill>
                <a:srgbClr val="000000"/>
              </a:solidFill>
              <a:effectLst/>
              <a:latin typeface="Helvetica" pitchFamily="2" charset="0"/>
            </a:endParaRPr>
          </a:p>
          <a:p>
            <a:pPr algn="l"/>
            <a:r>
              <a:rPr lang="en-US" sz="2000" b="0" i="0" u="none" strike="noStrike" dirty="0">
                <a:solidFill>
                  <a:srgbClr val="000000"/>
                </a:solidFill>
                <a:effectLst/>
                <a:latin typeface="Helvetica" pitchFamily="2" charset="0"/>
              </a:rPr>
              <a:t>My team will also handle getting the data to Jeff when he is ready to receive it.   Is it safe to assume this data will come over your existing line 169 over </a:t>
            </a:r>
            <a:r>
              <a:rPr lang="en-US" sz="2000" b="0" i="0" u="none" strike="noStrike" dirty="0" err="1">
                <a:solidFill>
                  <a:srgbClr val="000000"/>
                </a:solidFill>
                <a:effectLst/>
                <a:latin typeface="Helvetica" pitchFamily="2" charset="0"/>
              </a:rPr>
              <a:t>ftps</a:t>
            </a:r>
            <a:r>
              <a:rPr lang="en-US" sz="2000" b="0" i="0" u="none" strike="noStrike" dirty="0">
                <a:solidFill>
                  <a:srgbClr val="000000"/>
                </a:solidFill>
                <a:effectLst/>
                <a:latin typeface="Helvetica" pitchFamily="2" charset="0"/>
              </a:rPr>
              <a:t>-in (or ftpin357)?</a:t>
            </a:r>
            <a:br>
              <a:rPr lang="en-US" sz="2000" b="0" i="0" u="none" strike="noStrike" dirty="0">
                <a:solidFill>
                  <a:srgbClr val="000000"/>
                </a:solidFill>
                <a:effectLst/>
                <a:latin typeface="Helvetica" pitchFamily="2" charset="0"/>
              </a:rPr>
            </a:br>
            <a:endParaRPr lang="en-US" sz="2000" b="0" i="0" u="none" strike="noStrike" dirty="0">
              <a:solidFill>
                <a:srgbClr val="000000"/>
              </a:solidFill>
              <a:effectLst/>
              <a:latin typeface="Helvetica" pitchFamily="2" charset="0"/>
            </a:endParaRPr>
          </a:p>
          <a:p>
            <a:r>
              <a:rPr lang="en-US" sz="2000" i="1" dirty="0">
                <a:solidFill>
                  <a:schemeClr val="accent6"/>
                </a:solidFill>
              </a:rPr>
              <a:t>169 is CW3E SIO, currently sending radiosonde data from independent sites to NOAA</a:t>
            </a:r>
            <a:br>
              <a:rPr lang="en-US" sz="2000" dirty="0"/>
            </a:br>
            <a:endParaRPr lang="en-US" sz="2000" dirty="0"/>
          </a:p>
          <a:p>
            <a:endParaRPr lang="en-US" sz="2000" dirty="0"/>
          </a:p>
        </p:txBody>
      </p:sp>
    </p:spTree>
    <p:extLst>
      <p:ext uri="{BB962C8B-B14F-4D97-AF65-F5344CB8AC3E}">
        <p14:creationId xmlns:p14="http://schemas.microsoft.com/office/powerpoint/2010/main" val="252334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08B5E9-D59A-B44A-7059-456BF62864C1}"/>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77B2059F-BB0F-1C0E-5408-BBDFB24C5AFE}"/>
              </a:ext>
            </a:extLst>
          </p:cNvPr>
          <p:cNvSpPr>
            <a:spLocks noGrp="1"/>
          </p:cNvSpPr>
          <p:nvPr>
            <p:ph idx="1"/>
          </p:nvPr>
        </p:nvSpPr>
        <p:spPr/>
        <p:txBody>
          <a:bodyPr/>
          <a:lstStyle/>
          <a:p>
            <a:pPr algn="l"/>
            <a:r>
              <a:rPr lang="en-US" b="0" i="0" u="none" strike="noStrike" dirty="0">
                <a:solidFill>
                  <a:srgbClr val="000000"/>
                </a:solidFill>
                <a:effectLst/>
                <a:latin typeface="Helvetica" pitchFamily="2" charset="0"/>
              </a:rPr>
              <a:t>I was presuming that we'd receive the data (individual profiles) via headed GTS messages, which is typical for all of the satellite-based radio occultation data that we process. </a:t>
            </a:r>
            <a:br>
              <a:rPr lang="en-US" b="0" i="0" u="none" strike="noStrike" dirty="0">
                <a:solidFill>
                  <a:srgbClr val="000000"/>
                </a:solidFill>
                <a:effectLst/>
                <a:latin typeface="Helvetica" pitchFamily="2" charset="0"/>
              </a:rPr>
            </a:br>
            <a:endParaRPr lang="en-US" b="0" i="0" u="none" strike="noStrike" dirty="0">
              <a:solidFill>
                <a:srgbClr val="000000"/>
              </a:solidFill>
              <a:effectLst/>
              <a:latin typeface="Helvetica" pitchFamily="2" charset="0"/>
            </a:endParaRPr>
          </a:p>
          <a:p>
            <a:pPr algn="l"/>
            <a:r>
              <a:rPr lang="en-US" b="0" i="0" u="none" strike="noStrike" dirty="0">
                <a:solidFill>
                  <a:srgbClr val="000000"/>
                </a:solidFill>
                <a:effectLst/>
                <a:latin typeface="Helvetica" pitchFamily="2" charset="0"/>
              </a:rPr>
              <a:t>That said, and from a BUFR encoding standpoint, the general practice for radio occultation data is one individual RO profile per BUFR message, at least for satellite-based data which are the only examples I've ever seen to this point.</a:t>
            </a:r>
            <a:endParaRPr lang="en-US" dirty="0"/>
          </a:p>
        </p:txBody>
      </p:sp>
    </p:spTree>
    <p:extLst>
      <p:ext uri="{BB962C8B-B14F-4D97-AF65-F5344CB8AC3E}">
        <p14:creationId xmlns:p14="http://schemas.microsoft.com/office/powerpoint/2010/main" val="2781338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7C052-83B9-D836-7911-C87A34CD46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EA6E05-86F5-971F-7088-C74118FD4D15}"/>
              </a:ext>
            </a:extLst>
          </p:cNvPr>
          <p:cNvSpPr>
            <a:spLocks noGrp="1"/>
          </p:cNvSpPr>
          <p:nvPr>
            <p:ph idx="1"/>
          </p:nvPr>
        </p:nvSpPr>
        <p:spPr/>
        <p:txBody>
          <a:bodyPr>
            <a:noAutofit/>
          </a:bodyPr>
          <a:lstStyle/>
          <a:p>
            <a:pPr algn="l"/>
            <a:r>
              <a:rPr lang="en-US" sz="2000" b="0" i="0" u="none" strike="noStrike" dirty="0">
                <a:solidFill>
                  <a:srgbClr val="000000"/>
                </a:solidFill>
                <a:effectLst/>
                <a:latin typeface="Helvetica" pitchFamily="2" charset="0"/>
              </a:rPr>
              <a:t>since the same 3-10-026 radio occultation sequence descriptor will still be used in Section 3, then I think it should still work with most if not all existing reader software, because that's what most software keys on in order to read a BUFR message..  </a:t>
            </a:r>
          </a:p>
          <a:p>
            <a:pPr algn="l"/>
            <a:r>
              <a:rPr lang="en-US" sz="2000" b="0" i="0" u="none" strike="noStrike" dirty="0">
                <a:solidFill>
                  <a:srgbClr val="000000"/>
                </a:solidFill>
                <a:effectLst/>
                <a:latin typeface="Helvetica" pitchFamily="2" charset="0"/>
              </a:rPr>
              <a:t>In #2 above I'm only suggesting to include one additional preceding descriptor 0-01-008 prior to that 3-10-026 sequence, in order to store the aircraft tail number as an identifier associated with the following data.  This will help clarify that the radio occultation data in 3-10-026 is from an aircraft and not from a satellite, and which is also why I suggested to use a Data Category value of 2 rather than 3 in Section 1.</a:t>
            </a:r>
          </a:p>
          <a:p>
            <a:pPr algn="l"/>
            <a:r>
              <a:rPr lang="en-US" sz="2000" b="0" i="0" u="none" strike="noStrike" dirty="0">
                <a:solidFill>
                  <a:srgbClr val="000000"/>
                </a:solidFill>
                <a:effectLst/>
                <a:latin typeface="Helvetica" pitchFamily="2" charset="0"/>
              </a:rPr>
              <a:t>On a related note, and if you want, I could also propose that an International Subcategory value of 50 means "Radio occultation sounding" when the Data Category value is 2 and not just when the Data Category value is 3.  That way, you wouldn't need to change that International Subcategory value to "Missing" in your messages, which is one of the suggestions I had made earlier. </a:t>
            </a:r>
            <a:endParaRPr lang="en-US" sz="2000" dirty="0"/>
          </a:p>
        </p:txBody>
      </p:sp>
    </p:spTree>
    <p:extLst>
      <p:ext uri="{BB962C8B-B14F-4D97-AF65-F5344CB8AC3E}">
        <p14:creationId xmlns:p14="http://schemas.microsoft.com/office/powerpoint/2010/main" val="260535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18305-0192-1BE3-A52E-9E51B497809F}"/>
              </a:ext>
            </a:extLst>
          </p:cNvPr>
          <p:cNvSpPr>
            <a:spLocks noGrp="1"/>
          </p:cNvSpPr>
          <p:nvPr>
            <p:ph type="title"/>
          </p:nvPr>
        </p:nvSpPr>
        <p:spPr/>
        <p:txBody>
          <a:bodyPr/>
          <a:lstStyle/>
          <a:p>
            <a:r>
              <a:rPr lang="en-US" dirty="0"/>
              <a:t>We provided some </a:t>
            </a:r>
            <a:r>
              <a:rPr lang="en-US" dirty="0" err="1"/>
              <a:t>bufr</a:t>
            </a:r>
            <a:r>
              <a:rPr lang="en-US" dirty="0"/>
              <a:t> data for review</a:t>
            </a:r>
          </a:p>
        </p:txBody>
      </p:sp>
      <p:sp>
        <p:nvSpPr>
          <p:cNvPr id="3" name="Content Placeholder 2">
            <a:extLst>
              <a:ext uri="{FF2B5EF4-FFF2-40B4-BE49-F238E27FC236}">
                <a16:creationId xmlns:a16="http://schemas.microsoft.com/office/drawing/2014/main" id="{9981142B-2F85-C078-555D-4C133DCC1DCD}"/>
              </a:ext>
            </a:extLst>
          </p:cNvPr>
          <p:cNvSpPr>
            <a:spLocks noGrp="1"/>
          </p:cNvSpPr>
          <p:nvPr>
            <p:ph idx="1"/>
          </p:nvPr>
        </p:nvSpPr>
        <p:spPr/>
        <p:txBody>
          <a:bodyPr vert="horz" lIns="91440" tIns="45720" rIns="91440" bIns="45720" rtlCol="0" anchor="t">
            <a:normAutofit/>
          </a:bodyPr>
          <a:lstStyle/>
          <a:p>
            <a:pPr algn="l"/>
            <a:endParaRPr lang="en-US" b="0" i="0" u="none" strike="noStrike" dirty="0">
              <a:solidFill>
                <a:srgbClr val="000000"/>
              </a:solidFill>
              <a:effectLst/>
              <a:latin typeface="Helvetica" pitchFamily="2" charset="0"/>
            </a:endParaRPr>
          </a:p>
          <a:p>
            <a:r>
              <a:rPr lang="en-US" dirty="0">
                <a:solidFill>
                  <a:srgbClr val="000000"/>
                </a:solidFill>
                <a:latin typeface="Helvetica"/>
                <a:cs typeface="Helvetica"/>
              </a:rPr>
              <a:t>Processing -&gt; </a:t>
            </a:r>
            <a:r>
              <a:rPr lang="en-US" dirty="0" err="1">
                <a:solidFill>
                  <a:srgbClr val="000000"/>
                </a:solidFill>
                <a:latin typeface="Helvetica"/>
                <a:cs typeface="Helvetica"/>
              </a:rPr>
              <a:t>cdaac</a:t>
            </a:r>
            <a:r>
              <a:rPr lang="en-US" dirty="0">
                <a:solidFill>
                  <a:srgbClr val="000000"/>
                </a:solidFill>
                <a:latin typeface="Helvetica"/>
                <a:cs typeface="Helvetica"/>
              </a:rPr>
              <a:t> </a:t>
            </a:r>
            <a:r>
              <a:rPr lang="en-US" dirty="0" err="1">
                <a:solidFill>
                  <a:srgbClr val="000000"/>
                </a:solidFill>
                <a:latin typeface="Helvetica"/>
                <a:cs typeface="Helvetica"/>
              </a:rPr>
              <a:t>netcdf</a:t>
            </a:r>
            <a:r>
              <a:rPr lang="en-US" dirty="0">
                <a:solidFill>
                  <a:srgbClr val="000000"/>
                </a:solidFill>
                <a:latin typeface="Helvetica"/>
                <a:cs typeface="Helvetica"/>
              </a:rPr>
              <a:t> -&gt; </a:t>
            </a:r>
            <a:r>
              <a:rPr lang="en-US" dirty="0" err="1">
                <a:solidFill>
                  <a:srgbClr val="000000"/>
                </a:solidFill>
                <a:latin typeface="Helvetica"/>
                <a:cs typeface="Helvetica"/>
              </a:rPr>
              <a:t>ropp</a:t>
            </a:r>
            <a:r>
              <a:rPr lang="en-US" dirty="0">
                <a:solidFill>
                  <a:srgbClr val="000000"/>
                </a:solidFill>
                <a:latin typeface="Helvetica"/>
                <a:cs typeface="Helvetica"/>
              </a:rPr>
              <a:t> utility -&gt; </a:t>
            </a:r>
            <a:r>
              <a:rPr lang="en-US" dirty="0" err="1">
                <a:solidFill>
                  <a:srgbClr val="000000"/>
                </a:solidFill>
                <a:latin typeface="Helvetica"/>
                <a:cs typeface="Helvetica"/>
              </a:rPr>
              <a:t>ropp</a:t>
            </a:r>
            <a:r>
              <a:rPr lang="en-US" dirty="0">
                <a:solidFill>
                  <a:srgbClr val="000000"/>
                </a:solidFill>
                <a:latin typeface="Helvetica"/>
                <a:cs typeface="Helvetica"/>
              </a:rPr>
              <a:t> format -&gt; </a:t>
            </a:r>
            <a:r>
              <a:rPr lang="en-US" dirty="0" err="1">
                <a:solidFill>
                  <a:srgbClr val="000000"/>
                </a:solidFill>
                <a:latin typeface="Helvetica"/>
                <a:cs typeface="Helvetica"/>
              </a:rPr>
              <a:t>wmo</a:t>
            </a:r>
            <a:r>
              <a:rPr lang="en-US" dirty="0">
                <a:solidFill>
                  <a:srgbClr val="000000"/>
                </a:solidFill>
                <a:latin typeface="Helvetica"/>
                <a:cs typeface="Helvetica"/>
              </a:rPr>
              <a:t> </a:t>
            </a:r>
            <a:r>
              <a:rPr lang="en-US" dirty="0" err="1">
                <a:solidFill>
                  <a:srgbClr val="000000"/>
                </a:solidFill>
                <a:latin typeface="Helvetica"/>
                <a:cs typeface="Helvetica"/>
              </a:rPr>
              <a:t>bufr</a:t>
            </a:r>
            <a:r>
              <a:rPr lang="en-US" dirty="0">
                <a:solidFill>
                  <a:srgbClr val="000000"/>
                </a:solidFill>
                <a:latin typeface="Helvetica"/>
                <a:cs typeface="Helvetica"/>
              </a:rPr>
              <a:t> format</a:t>
            </a:r>
          </a:p>
          <a:p>
            <a:pPr algn="l"/>
            <a:br>
              <a:rPr lang="en-US" b="0" i="0" u="none" strike="noStrike" dirty="0">
                <a:solidFill>
                  <a:srgbClr val="000000"/>
                </a:solidFill>
                <a:effectLst/>
                <a:latin typeface="Helvetica" pitchFamily="2" charset="0"/>
              </a:rPr>
            </a:br>
            <a:r>
              <a:rPr lang="en-US" b="0" i="0" u="none" strike="noStrike" dirty="0">
                <a:solidFill>
                  <a:srgbClr val="000000"/>
                </a:solidFill>
                <a:effectLst/>
                <a:latin typeface="Helvetica" pitchFamily="2" charset="0"/>
              </a:rPr>
              <a:t>In this folder:</a:t>
            </a:r>
          </a:p>
          <a:p>
            <a:pPr algn="l"/>
            <a:r>
              <a:rPr lang="en-US" b="0" i="0" u="none" strike="noStrike" dirty="0">
                <a:solidFill>
                  <a:srgbClr val="000000"/>
                </a:solidFill>
                <a:effectLst/>
                <a:latin typeface="Helvetica"/>
                <a:cs typeface="Helvetica"/>
              </a:rPr>
              <a:t>https://agsweb.ucsd.edu/gnss-aro/ar2023/postProc/level2/</a:t>
            </a:r>
            <a:br>
              <a:rPr lang="en-US" b="0" i="0" u="none" strike="noStrike" dirty="0">
                <a:effectLst/>
                <a:latin typeface="Helvetica" pitchFamily="2" charset="0"/>
              </a:rPr>
            </a:br>
            <a:endParaRPr lang="en-US" b="0" i="0" u="none" strike="noStrike" dirty="0">
              <a:solidFill>
                <a:srgbClr val="000000"/>
              </a:solidFill>
              <a:effectLst/>
              <a:latin typeface="Helvetica" pitchFamily="2" charset="0"/>
            </a:endParaRPr>
          </a:p>
          <a:p>
            <a:pPr algn="l"/>
            <a:r>
              <a:rPr lang="en-US" b="0" i="0" u="none" strike="noStrike" dirty="0">
                <a:solidFill>
                  <a:srgbClr val="000000"/>
                </a:solidFill>
                <a:effectLst/>
                <a:latin typeface="Helvetica" pitchFamily="2" charset="0"/>
              </a:rPr>
              <a:t>you can find some </a:t>
            </a:r>
            <a:r>
              <a:rPr lang="en-US" b="0" i="0" u="none" strike="noStrike" dirty="0" err="1">
                <a:solidFill>
                  <a:srgbClr val="000000"/>
                </a:solidFill>
                <a:effectLst/>
                <a:latin typeface="Helvetica" pitchFamily="2" charset="0"/>
              </a:rPr>
              <a:t>bufr</a:t>
            </a:r>
            <a:r>
              <a:rPr lang="en-US" b="0" i="0" u="none" strike="noStrike" dirty="0">
                <a:solidFill>
                  <a:srgbClr val="000000"/>
                </a:solidFill>
                <a:effectLst/>
                <a:latin typeface="Helvetica" pitchFamily="2" charset="0"/>
              </a:rPr>
              <a:t> files for iop03 iop04 and iop05 from 2023.</a:t>
            </a:r>
          </a:p>
          <a:p>
            <a:endParaRPr lang="en-US" dirty="0"/>
          </a:p>
        </p:txBody>
      </p:sp>
    </p:spTree>
    <p:extLst>
      <p:ext uri="{BB962C8B-B14F-4D97-AF65-F5344CB8AC3E}">
        <p14:creationId xmlns:p14="http://schemas.microsoft.com/office/powerpoint/2010/main" val="987840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D8DE-0B27-AFE2-66C2-74D187A0C81C}"/>
              </a:ext>
            </a:extLst>
          </p:cNvPr>
          <p:cNvSpPr>
            <a:spLocks noGrp="1"/>
          </p:cNvSpPr>
          <p:nvPr>
            <p:ph type="title"/>
          </p:nvPr>
        </p:nvSpPr>
        <p:spPr/>
        <p:txBody>
          <a:bodyPr/>
          <a:lstStyle/>
          <a:p>
            <a:r>
              <a:rPr lang="en-US" dirty="0"/>
              <a:t>Initial concerns based on test </a:t>
            </a:r>
            <a:r>
              <a:rPr lang="en-US" dirty="0" err="1"/>
              <a:t>bufr</a:t>
            </a:r>
            <a:endParaRPr lang="en-US" dirty="0"/>
          </a:p>
        </p:txBody>
      </p:sp>
      <p:sp>
        <p:nvSpPr>
          <p:cNvPr id="3" name="Content Placeholder 2">
            <a:extLst>
              <a:ext uri="{FF2B5EF4-FFF2-40B4-BE49-F238E27FC236}">
                <a16:creationId xmlns:a16="http://schemas.microsoft.com/office/drawing/2014/main" id="{029F0EF1-2DEE-D8C7-2313-18F21D4FC8B3}"/>
              </a:ext>
            </a:extLst>
          </p:cNvPr>
          <p:cNvSpPr>
            <a:spLocks noGrp="1"/>
          </p:cNvSpPr>
          <p:nvPr>
            <p:ph idx="1"/>
          </p:nvPr>
        </p:nvSpPr>
        <p:spPr/>
        <p:txBody>
          <a:bodyPr>
            <a:noAutofit/>
          </a:bodyPr>
          <a:lstStyle/>
          <a:p>
            <a:pPr algn="l">
              <a:buFont typeface="+mj-lt"/>
              <a:buAutoNum type="arabicPeriod"/>
            </a:pPr>
            <a:r>
              <a:rPr lang="en-US" sz="2400" b="0" i="0" u="none" strike="noStrike" dirty="0">
                <a:solidFill>
                  <a:srgbClr val="000000"/>
                </a:solidFill>
                <a:effectLst/>
                <a:latin typeface="Helvetica" pitchFamily="2" charset="0"/>
              </a:rPr>
              <a:t>First off, the originating center for these messages is currently set to a value of 0 in Sections 1 and 4, which in turn means that it was encoded by the WMO Secretariat.  Obviously that's not correct, so you'll need to pick a different number from Common Code Table C-1 in Part C of the </a:t>
            </a:r>
            <a:r>
              <a:rPr lang="en-US" sz="2400" b="0" i="0" u="none" strike="noStrike" dirty="0">
                <a:solidFill>
                  <a:srgbClr val="000000"/>
                </a:solidFill>
                <a:effectLst/>
                <a:latin typeface="Helvetica" pitchFamily="2" charset="0"/>
                <a:hlinkClick r:id="rId2"/>
              </a:rPr>
              <a:t>WMO 306 Manual</a:t>
            </a:r>
            <a:r>
              <a:rPr lang="en-US" sz="2400" b="0" i="0" u="none" strike="noStrike" dirty="0">
                <a:solidFill>
                  <a:srgbClr val="000000"/>
                </a:solidFill>
                <a:effectLst/>
                <a:latin typeface="Helvetica" pitchFamily="2" charset="0"/>
              </a:rPr>
              <a:t>.  There are already numbers defined for a wide range of U.S. agencies including FNMOC, NOAA/NWS, NOAA/OAR, NASA, UCAR, NCAR, etc., so if this project happens to be affiliated with or funded under contract to any of those agencies then it may be an appropriate choice.  But if none of those seem appropriate, then you're also welcome to use a value of 9 which is a catchall for "NOAA/NWS - Other" and which may end up being your best fallback option.</a:t>
            </a:r>
          </a:p>
          <a:p>
            <a:br>
              <a:rPr lang="en-US" sz="2400" dirty="0"/>
            </a:br>
            <a:endParaRPr lang="en-US" sz="2400" dirty="0"/>
          </a:p>
        </p:txBody>
      </p:sp>
    </p:spTree>
    <p:extLst>
      <p:ext uri="{BB962C8B-B14F-4D97-AF65-F5344CB8AC3E}">
        <p14:creationId xmlns:p14="http://schemas.microsoft.com/office/powerpoint/2010/main" val="197010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2AFF3-32C7-6D93-2E35-9BC15E4F4BBD}"/>
              </a:ext>
            </a:extLst>
          </p:cNvPr>
          <p:cNvSpPr>
            <a:spLocks noGrp="1"/>
          </p:cNvSpPr>
          <p:nvPr>
            <p:ph type="title"/>
          </p:nvPr>
        </p:nvSpPr>
        <p:spPr/>
        <p:txBody>
          <a:bodyPr/>
          <a:lstStyle/>
          <a:p>
            <a:r>
              <a:rPr lang="en-US" dirty="0"/>
              <a:t>Initial concerns based on test </a:t>
            </a:r>
            <a:r>
              <a:rPr lang="en-US" dirty="0" err="1"/>
              <a:t>bufr</a:t>
            </a:r>
            <a:endParaRPr lang="en-US" dirty="0"/>
          </a:p>
        </p:txBody>
      </p:sp>
      <p:sp>
        <p:nvSpPr>
          <p:cNvPr id="3" name="Content Placeholder 2">
            <a:extLst>
              <a:ext uri="{FF2B5EF4-FFF2-40B4-BE49-F238E27FC236}">
                <a16:creationId xmlns:a16="http://schemas.microsoft.com/office/drawing/2014/main" id="{44B5C70D-8490-835B-484E-C368DA836F57}"/>
              </a:ext>
            </a:extLst>
          </p:cNvPr>
          <p:cNvSpPr>
            <a:spLocks noGrp="1"/>
          </p:cNvSpPr>
          <p:nvPr>
            <p:ph idx="1"/>
          </p:nvPr>
        </p:nvSpPr>
        <p:spPr>
          <a:xfrm>
            <a:off x="838200" y="1690688"/>
            <a:ext cx="10515600" cy="4351338"/>
          </a:xfrm>
        </p:spPr>
        <p:txBody>
          <a:bodyPr/>
          <a:lstStyle/>
          <a:p>
            <a:pPr marL="0" indent="0" algn="l">
              <a:buNone/>
            </a:pPr>
            <a:r>
              <a:rPr lang="en-US" sz="2800" b="0" i="0" u="none" strike="noStrike" dirty="0">
                <a:solidFill>
                  <a:srgbClr val="000000"/>
                </a:solidFill>
                <a:effectLst/>
                <a:latin typeface="Helvetica" pitchFamily="2" charset="0"/>
              </a:rPr>
              <a:t>2. Since these data are measured from an airplane rather than a satellite, then I think it would be more appropriate for you to use a Section 1 Data Category value of 2 for "Vertical soundings (other than satellite)", rather than a value of 3 for "Vertical soundings (satellite)", and then just set your corresponding International Subcategory value to 255 for "Missing", since a value of 50 only means "Radio occultation sounding" when the Data Category is 3.  You can still use 3-10-026 as your main sequence descriptor in Section 3, and that way it will still be identifiable as radio occultation data, but it might be a good idea to also precede that with an additional new descriptor 0-01-008 where you can encode the tail number of the airplane to help make it clearer what's going on here.</a:t>
            </a:r>
          </a:p>
          <a:p>
            <a:endParaRPr lang="en-US" dirty="0"/>
          </a:p>
        </p:txBody>
      </p:sp>
    </p:spTree>
    <p:extLst>
      <p:ext uri="{BB962C8B-B14F-4D97-AF65-F5344CB8AC3E}">
        <p14:creationId xmlns:p14="http://schemas.microsoft.com/office/powerpoint/2010/main" val="232591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22020-F3B8-5FED-BA0B-EAE7D32FC8F6}"/>
              </a:ext>
            </a:extLst>
          </p:cNvPr>
          <p:cNvSpPr>
            <a:spLocks noGrp="1"/>
          </p:cNvSpPr>
          <p:nvPr>
            <p:ph type="title"/>
          </p:nvPr>
        </p:nvSpPr>
        <p:spPr/>
        <p:txBody>
          <a:bodyPr/>
          <a:lstStyle/>
          <a:p>
            <a:r>
              <a:rPr lang="en-US" dirty="0"/>
              <a:t>Initial concerns based on test </a:t>
            </a:r>
            <a:r>
              <a:rPr lang="en-US" dirty="0" err="1"/>
              <a:t>bufr</a:t>
            </a:r>
            <a:endParaRPr lang="en-US" dirty="0"/>
          </a:p>
        </p:txBody>
      </p:sp>
      <p:sp>
        <p:nvSpPr>
          <p:cNvPr id="3" name="Content Placeholder 2">
            <a:extLst>
              <a:ext uri="{FF2B5EF4-FFF2-40B4-BE49-F238E27FC236}">
                <a16:creationId xmlns:a16="http://schemas.microsoft.com/office/drawing/2014/main" id="{6B40FD71-FB31-6C80-20AB-4AA6B890209F}"/>
              </a:ext>
            </a:extLst>
          </p:cNvPr>
          <p:cNvSpPr>
            <a:spLocks noGrp="1"/>
          </p:cNvSpPr>
          <p:nvPr>
            <p:ph idx="1"/>
          </p:nvPr>
        </p:nvSpPr>
        <p:spPr/>
        <p:txBody>
          <a:bodyPr/>
          <a:lstStyle/>
          <a:p>
            <a:pPr marL="0" indent="0" algn="l">
              <a:buNone/>
            </a:pPr>
            <a:r>
              <a:rPr lang="en-US" sz="2800" b="0" i="0" u="none" strike="noStrike" dirty="0">
                <a:solidFill>
                  <a:srgbClr val="000000"/>
                </a:solidFill>
                <a:effectLst/>
                <a:latin typeface="Helvetica" pitchFamily="2" charset="0"/>
              </a:rPr>
              <a:t>3. I noticed that all of your mean frequency values corresponding to descriptor 0-02-121 were encoded with a value of 0.0 Hz.  I'm assuming that's just some default placeholder rather than an actual measured value, so I would suggest to encode those as "Missing" instead.</a:t>
            </a:r>
          </a:p>
          <a:p>
            <a:pPr marL="0" indent="0" algn="l">
              <a:buNone/>
            </a:pPr>
            <a:r>
              <a:rPr lang="en-US" sz="2800" b="0" i="0" u="none" strike="noStrike" dirty="0">
                <a:solidFill>
                  <a:srgbClr val="000000"/>
                </a:solidFill>
                <a:effectLst/>
                <a:latin typeface="Helvetica" pitchFamily="2" charset="0"/>
              </a:rPr>
              <a:t>4. Similarly, I noticed that all of your satellite classification values corresponding to descriptor 0-02-020 were encoded with values of 401, 402, 403, or 404, and which I presume should also be "Missing" instead since these aren't really satellite observations.</a:t>
            </a:r>
          </a:p>
          <a:p>
            <a:endParaRPr lang="en-US" dirty="0"/>
          </a:p>
        </p:txBody>
      </p:sp>
    </p:spTree>
    <p:extLst>
      <p:ext uri="{BB962C8B-B14F-4D97-AF65-F5344CB8AC3E}">
        <p14:creationId xmlns:p14="http://schemas.microsoft.com/office/powerpoint/2010/main" val="1171233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CDB37-B50D-1CF1-5EDC-46A317FD8D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428F46-DE63-4CE7-E7F7-F07A2DD88DD5}"/>
              </a:ext>
            </a:extLst>
          </p:cNvPr>
          <p:cNvSpPr>
            <a:spLocks noGrp="1"/>
          </p:cNvSpPr>
          <p:nvPr>
            <p:ph idx="1"/>
          </p:nvPr>
        </p:nvSpPr>
        <p:spPr/>
        <p:txBody>
          <a:bodyPr/>
          <a:lstStyle/>
          <a:p>
            <a:r>
              <a:rPr lang="en-US" dirty="0">
                <a:hlinkClick r:id="rId2"/>
              </a:rPr>
              <a:t>holly.uhlenhake@noaa.gov</a:t>
            </a:r>
            <a:endParaRPr lang="en-US" dirty="0"/>
          </a:p>
          <a:p>
            <a:r>
              <a:rPr lang="en-US" dirty="0" err="1"/>
              <a:t>jeff.ator@noaa.gov</a:t>
            </a:r>
            <a:endParaRPr lang="en-US" dirty="0"/>
          </a:p>
        </p:txBody>
      </p:sp>
    </p:spTree>
    <p:extLst>
      <p:ext uri="{BB962C8B-B14F-4D97-AF65-F5344CB8AC3E}">
        <p14:creationId xmlns:p14="http://schemas.microsoft.com/office/powerpoint/2010/main" val="2075424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1083</Words>
  <Application>Microsoft Office PowerPoint</Application>
  <PresentationFormat>Widescreen</PresentationFormat>
  <Paragraphs>43</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BUFR update for ARO</vt:lpstr>
      <vt:lpstr>Changes to BUFR for ARO</vt:lpstr>
      <vt:lpstr>Checkout bufr files</vt:lpstr>
      <vt:lpstr>PowerPoint Presentation</vt:lpstr>
      <vt:lpstr>PowerPoint Presentation</vt:lpstr>
      <vt:lpstr>We provided some bufr data for review</vt:lpstr>
      <vt:lpstr>Initial concerns based on test bufr</vt:lpstr>
      <vt:lpstr>Initial concerns based on test bufr</vt:lpstr>
      <vt:lpstr>Initial concerns based on test bufr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Changes to BUFR for ARO</dc:title>
  <dc:creator>Haase, Jennifer</dc:creator>
  <cp:lastModifiedBy>Haase, Jennifer</cp:lastModifiedBy>
  <cp:revision>10</cp:revision>
  <dcterms:created xsi:type="dcterms:W3CDTF">2024-01-17T14:05:03Z</dcterms:created>
  <dcterms:modified xsi:type="dcterms:W3CDTF">2024-01-17T15:04:10Z</dcterms:modified>
</cp:coreProperties>
</file>